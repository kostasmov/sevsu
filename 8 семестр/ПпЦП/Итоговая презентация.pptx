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78" r:id="rId12"/>
  </p:sldIdLst>
  <p:sldSz cx="9144000" cy="5143500" type="screen16x9"/>
  <p:notesSz cx="9144000" cy="51435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Myriad Pro" panose="020B0503030403020204" charset="0"/>
      <p:regular r:id="rId18"/>
      <p:bold r:id="rId19"/>
      <p:italic r:id="rId20"/>
      <p:boldItalic r:id="rId21"/>
    </p:embeddedFont>
    <p:embeddedFont>
      <p:font typeface="Myriad Pro Black" panose="020B0803030403020204" charset="0"/>
      <p:bold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42" autoAdjust="0"/>
  </p:normalViewPr>
  <p:slideViewPr>
    <p:cSldViewPr>
      <p:cViewPr>
        <p:scale>
          <a:sx n="66" d="100"/>
          <a:sy n="66" d="100"/>
        </p:scale>
        <p:origin x="1280" y="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0C1F-0032-431C-8FAB-96526BBF0541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DA95A-3894-4F42-9E15-06A957E1C8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3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7365" y="1272837"/>
            <a:ext cx="3989268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45319" y="3454316"/>
            <a:ext cx="4053361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86455" y="1531791"/>
            <a:ext cx="3150870" cy="272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14625" y="1300315"/>
            <a:ext cx="3256279" cy="285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1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" y="0"/>
            <a:ext cx="9144000" cy="5143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58205"/>
            <a:ext cx="3352800" cy="10545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1056" y="1809750"/>
            <a:ext cx="6822743" cy="44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Myriad Pro Black" panose="020B0803030403020204" pitchFamily="34" charset="0"/>
              </a:rPr>
              <a:t>Разработка системы оптимизации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056" y="4183618"/>
            <a:ext cx="42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yriad Pro Black" panose="020B0803030403020204" pitchFamily="34" charset="0"/>
              </a:rPr>
              <a:t>ДОКЛАДЧИК</a:t>
            </a:r>
            <a:r>
              <a:rPr lang="en-US" dirty="0">
                <a:solidFill>
                  <a:schemeClr val="bg1"/>
                </a:solidFill>
                <a:latin typeface="Myriad Pro Black" panose="020B0803030403020204" pitchFamily="34" charset="0"/>
              </a:rPr>
              <a:t>:</a:t>
            </a:r>
            <a:br>
              <a:rPr lang="en-US" dirty="0">
                <a:solidFill>
                  <a:schemeClr val="bg1"/>
                </a:solidFill>
                <a:latin typeface="Myriad Pro Black" panose="020B0803030403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Myriad Pro Black" panose="020B0803030403020204" pitchFamily="34" charset="0"/>
              </a:rPr>
              <a:t>К.М. Мовенко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89011-3DBD-9AEC-F450-395F0D2FB640}"/>
              </a:ext>
            </a:extLst>
          </p:cNvPr>
          <p:cNvSpPr txBox="1"/>
          <p:nvPr/>
        </p:nvSpPr>
        <p:spPr>
          <a:xfrm>
            <a:off x="2209800" y="27241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53DAD-39B7-8A15-FE2E-3B8501B72A9F}"/>
              </a:ext>
            </a:extLst>
          </p:cNvPr>
          <p:cNvSpPr txBox="1"/>
          <p:nvPr/>
        </p:nvSpPr>
        <p:spPr>
          <a:xfrm>
            <a:off x="721056" y="2336630"/>
            <a:ext cx="5603544" cy="983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b="1" dirty="0">
                <a:solidFill>
                  <a:schemeClr val="bg1"/>
                </a:solidFill>
                <a:latin typeface="Myriad Pro Black" panose="020B0803030403020204" pitchFamily="34" charset="0"/>
              </a:rPr>
              <a:t>р</a:t>
            </a:r>
            <a:r>
              <a:rPr lang="ru-RU" sz="1800" b="1" dirty="0">
                <a:solidFill>
                  <a:schemeClr val="bg1"/>
                </a:solidFill>
                <a:latin typeface="Myriad Pro Black" panose="020B0803030403020204" pitchFamily="34" charset="0"/>
              </a:rPr>
              <a:t>асписания</a:t>
            </a:r>
            <a:r>
              <a:rPr lang="ru-RU" sz="1800" dirty="0">
                <a:solidFill>
                  <a:schemeClr val="bg1"/>
                </a:solidFill>
                <a:latin typeface="Myriad Pro Black" panose="020B0803030403020204" pitchFamily="34" charset="0"/>
              </a:rPr>
              <a:t> выполнения пакетов заданий в конвейерных системах при учёте технического обслуживания приборов с использованием целочисленного программирования.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/>
          <p:cNvGrpSpPr/>
          <p:nvPr/>
        </p:nvGrpSpPr>
        <p:grpSpPr>
          <a:xfrm>
            <a:off x="0" y="-5563"/>
            <a:ext cx="9144000" cy="574705"/>
            <a:chOff x="0" y="-5563"/>
            <a:chExt cx="9144000" cy="574705"/>
          </a:xfrm>
        </p:grpSpPr>
        <p:grpSp>
          <p:nvGrpSpPr>
            <p:cNvPr id="12" name="Группа 11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3" name="Прямоугольник 12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4" name="Полилиния 13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>
                  <a:gd name="connsiteX0" fmla="*/ 0 w 9967865"/>
                  <a:gd name="connsiteY0" fmla="*/ 0 h 679010"/>
                  <a:gd name="connsiteX1" fmla="*/ 9967865 w 9967865"/>
                  <a:gd name="connsiteY1" fmla="*/ 0 h 679010"/>
                  <a:gd name="connsiteX2" fmla="*/ 7659232 w 9967865"/>
                  <a:gd name="connsiteY2" fmla="*/ 679010 h 679010"/>
                  <a:gd name="connsiteX3" fmla="*/ 0 w 9967865"/>
                  <a:gd name="connsiteY3" fmla="*/ 679010 h 679010"/>
                  <a:gd name="connsiteX4" fmla="*/ 0 w 9967865"/>
                  <a:gd name="connsiteY4" fmla="*/ 0 h 679010"/>
                  <a:gd name="connsiteX0" fmla="*/ 0 w 9967865"/>
                  <a:gd name="connsiteY0" fmla="*/ 0 h 686788"/>
                  <a:gd name="connsiteX1" fmla="*/ 9967865 w 9967865"/>
                  <a:gd name="connsiteY1" fmla="*/ 0 h 686788"/>
                  <a:gd name="connsiteX2" fmla="*/ 9086239 w 9967865"/>
                  <a:gd name="connsiteY2" fmla="*/ 686788 h 686788"/>
                  <a:gd name="connsiteX3" fmla="*/ 0 w 9967865"/>
                  <a:gd name="connsiteY3" fmla="*/ 679010 h 686788"/>
                  <a:gd name="connsiteX4" fmla="*/ 0 w 9967865"/>
                  <a:gd name="connsiteY4" fmla="*/ 0 h 686788"/>
                  <a:gd name="connsiteX0" fmla="*/ 0 w 9967865"/>
                  <a:gd name="connsiteY0" fmla="*/ 0 h 750734"/>
                  <a:gd name="connsiteX1" fmla="*/ 9967865 w 9967865"/>
                  <a:gd name="connsiteY1" fmla="*/ 0 h 750734"/>
                  <a:gd name="connsiteX2" fmla="*/ 9086239 w 9967865"/>
                  <a:gd name="connsiteY2" fmla="*/ 686788 h 750734"/>
                  <a:gd name="connsiteX3" fmla="*/ 422409 w 9967865"/>
                  <a:gd name="connsiteY3" fmla="*/ 750734 h 750734"/>
                  <a:gd name="connsiteX4" fmla="*/ 0 w 9967865"/>
                  <a:gd name="connsiteY4" fmla="*/ 0 h 750734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86239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318564 w 9967865"/>
                  <a:gd name="connsiteY2" fmla="*/ 634624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01757 w 9967865"/>
                  <a:gd name="connsiteY2" fmla="*/ 683527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929948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774813"/>
                  <a:gd name="connsiteX1" fmla="*/ 9967865 w 9967865"/>
                  <a:gd name="connsiteY1" fmla="*/ 0 h 774813"/>
                  <a:gd name="connsiteX2" fmla="*/ 9153824 w 9967865"/>
                  <a:gd name="connsiteY2" fmla="*/ 774813 h 774813"/>
                  <a:gd name="connsiteX3" fmla="*/ 4224 w 9967865"/>
                  <a:gd name="connsiteY3" fmla="*/ 688791 h 774813"/>
                  <a:gd name="connsiteX4" fmla="*/ 0 w 9967865"/>
                  <a:gd name="connsiteY4" fmla="*/ 0 h 774813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824346 w 9967865"/>
                  <a:gd name="connsiteY2" fmla="*/ 484656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90048"/>
                  <a:gd name="connsiteX1" fmla="*/ 9967865 w 9967865"/>
                  <a:gd name="connsiteY1" fmla="*/ 0 h 690048"/>
                  <a:gd name="connsiteX2" fmla="*/ 8760984 w 9967865"/>
                  <a:gd name="connsiteY2" fmla="*/ 690048 h 690048"/>
                  <a:gd name="connsiteX3" fmla="*/ 4224 w 9967865"/>
                  <a:gd name="connsiteY3" fmla="*/ 688791 h 690048"/>
                  <a:gd name="connsiteX4" fmla="*/ 0 w 9967865"/>
                  <a:gd name="connsiteY4" fmla="*/ 0 h 690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800" y="91298"/>
              <a:ext cx="1211316" cy="380979"/>
            </a:xfrm>
            <a:prstGeom prst="rect">
              <a:avLst/>
            </a:prstGeom>
          </p:spPr>
        </p:pic>
      </p:grpSp>
      <p:sp>
        <p:nvSpPr>
          <p:cNvPr id="19" name="object 3"/>
          <p:cNvSpPr txBox="1"/>
          <p:nvPr/>
        </p:nvSpPr>
        <p:spPr>
          <a:xfrm>
            <a:off x="726375" y="1123950"/>
            <a:ext cx="7655625" cy="21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Myriad Pro Black" panose="020B0803030403020204" pitchFamily="34" charset="0"/>
              </a:rPr>
              <a:t>Диаграммы потоков данных</a:t>
            </a:r>
            <a:endParaRPr lang="ru-RU" sz="1400" dirty="0">
              <a:latin typeface="Myriad Pro Black" panose="020B0803030403020204" pitchFamily="34" charset="0"/>
            </a:endParaRPr>
          </a:p>
          <a:p>
            <a:endParaRPr lang="ru-RU" sz="1400" dirty="0">
              <a:latin typeface="Myriad Pro Black" panose="020B0803030403020204" pitchFamily="34" charset="0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latin typeface="Myriad Pro" panose="020B0503030403020204" pitchFamily="34" charset="0"/>
              </a:rPr>
              <a:t>Процесс проектирования системы был начат с анализа того, какие данные участвуют в процессе функционирования системы, откуда они приходят, куда передаются, где хранятся и как преобразуются. Для визуализации этого анализа была построена </a:t>
            </a:r>
            <a:r>
              <a:rPr lang="ru-RU" sz="2000" b="1" dirty="0">
                <a:latin typeface="Myriad Pro" panose="020B0503030403020204" pitchFamily="34" charset="0"/>
              </a:rPr>
              <a:t>диаграмма DFD </a:t>
            </a:r>
            <a:r>
              <a:rPr lang="ru-RU" sz="2000" dirty="0">
                <a:latin typeface="Myriad Pro" panose="020B0503030403020204" pitchFamily="34" charset="0"/>
              </a:rPr>
              <a:t>в нотации Гейна-Сарсона.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617" y="147583"/>
            <a:ext cx="8229600" cy="26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chemeClr val="bg1"/>
                </a:solidFill>
                <a:latin typeface="Myriad Pro Black" panose="020B0803030403020204" pitchFamily="34" charset="0"/>
              </a:rPr>
              <a:t>Системотехнический анализ и проектирование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99C040-AED1-1665-1F28-C769C71CA79D}"/>
              </a:ext>
            </a:extLst>
          </p:cNvPr>
          <p:cNvSpPr txBox="1"/>
          <p:nvPr/>
        </p:nvSpPr>
        <p:spPr>
          <a:xfrm>
            <a:off x="1676400" y="4248150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Myriad Pro" panose="020B0503030403020204" charset="0"/>
              </a:rPr>
              <a:t>Контекстная DFD-диаграмма системы оптимизации расписаний пакетов задач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94A28-894E-4C24-895D-BC008355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42950"/>
            <a:ext cx="8229600" cy="31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9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1154A0-433F-0776-5969-4BCB65B328E9}"/>
              </a:ext>
            </a:extLst>
          </p:cNvPr>
          <p:cNvSpPr txBox="1"/>
          <p:nvPr/>
        </p:nvSpPr>
        <p:spPr>
          <a:xfrm>
            <a:off x="3048000" y="386715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Декомпозиция </a:t>
            </a:r>
            <a:r>
              <a:rPr lang="en-US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DFD</a:t>
            </a:r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-диаграммы</a:t>
            </a:r>
            <a:endParaRPr lang="ru-RU" b="1" dirty="0">
              <a:latin typeface="Myriad Pro" panose="020B050303040302020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D4E325-EFD7-C460-AE0C-6CEE38EC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9" y="1047750"/>
            <a:ext cx="8886341" cy="239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8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D87F6-D4E0-B26B-47EC-7766779A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17" y="782411"/>
            <a:ext cx="6555301" cy="1138773"/>
          </a:xfrm>
        </p:spPr>
        <p:txBody>
          <a:bodyPr/>
          <a:lstStyle/>
          <a:p>
            <a:r>
              <a:rPr lang="ru-RU" dirty="0"/>
              <a:t>Функциональная модель IDEF0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ACAEF-FCFC-0BC8-67D2-0C893D62DEC1}"/>
              </a:ext>
            </a:extLst>
          </p:cNvPr>
          <p:cNvSpPr txBox="1"/>
          <p:nvPr/>
        </p:nvSpPr>
        <p:spPr>
          <a:xfrm>
            <a:off x="724617" y="1504950"/>
            <a:ext cx="7162800" cy="240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Myriad Pro" panose="020B0503030403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Функциональная модель системы определяет, что она делает, какие функции выполняет и как они связаны между собой. </a:t>
            </a:r>
          </a:p>
          <a:p>
            <a:pPr algn="just">
              <a:buNone/>
            </a:pPr>
            <a:endParaRPr lang="ru-RU" dirty="0">
              <a:latin typeface="Myriad Pro" panose="020B0503030403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На основе существующих решений, проделанного анализа и сформулированных требований к проекту была разработана функциональная модель в </a:t>
            </a:r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методологии IDEF0</a:t>
            </a:r>
            <a:r>
              <a:rPr lang="ru-RU" sz="1800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10ADF12-ED3F-0DD5-43F7-2D0853EB6547}"/>
              </a:ext>
            </a:extLst>
          </p:cNvPr>
          <p:cNvGrpSpPr/>
          <p:nvPr/>
        </p:nvGrpSpPr>
        <p:grpSpPr>
          <a:xfrm>
            <a:off x="0" y="-5563"/>
            <a:ext cx="9144000" cy="574705"/>
            <a:chOff x="0" y="-5563"/>
            <a:chExt cx="9144000" cy="574705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52005BA-E17A-5E2E-DDD0-7B1BD245B727}"/>
                </a:ext>
              </a:extLst>
            </p:cNvPr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567BE90F-DFA0-75A3-E7AA-38FC770DE4EE}"/>
                  </a:ext>
                </a:extLst>
              </p:cNvPr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9" name="Полилиния 13">
                <a:extLst>
                  <a:ext uri="{FF2B5EF4-FFF2-40B4-BE49-F238E27FC236}">
                    <a16:creationId xmlns:a16="http://schemas.microsoft.com/office/drawing/2014/main" id="{DD3CC828-91C0-1CE2-7DBD-94790AEAEE31}"/>
                  </a:ext>
                </a:extLst>
              </p:cNvPr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>
                  <a:gd name="connsiteX0" fmla="*/ 0 w 9967865"/>
                  <a:gd name="connsiteY0" fmla="*/ 0 h 679010"/>
                  <a:gd name="connsiteX1" fmla="*/ 9967865 w 9967865"/>
                  <a:gd name="connsiteY1" fmla="*/ 0 h 679010"/>
                  <a:gd name="connsiteX2" fmla="*/ 7659232 w 9967865"/>
                  <a:gd name="connsiteY2" fmla="*/ 679010 h 679010"/>
                  <a:gd name="connsiteX3" fmla="*/ 0 w 9967865"/>
                  <a:gd name="connsiteY3" fmla="*/ 679010 h 679010"/>
                  <a:gd name="connsiteX4" fmla="*/ 0 w 9967865"/>
                  <a:gd name="connsiteY4" fmla="*/ 0 h 679010"/>
                  <a:gd name="connsiteX0" fmla="*/ 0 w 9967865"/>
                  <a:gd name="connsiteY0" fmla="*/ 0 h 686788"/>
                  <a:gd name="connsiteX1" fmla="*/ 9967865 w 9967865"/>
                  <a:gd name="connsiteY1" fmla="*/ 0 h 686788"/>
                  <a:gd name="connsiteX2" fmla="*/ 9086239 w 9967865"/>
                  <a:gd name="connsiteY2" fmla="*/ 686788 h 686788"/>
                  <a:gd name="connsiteX3" fmla="*/ 0 w 9967865"/>
                  <a:gd name="connsiteY3" fmla="*/ 679010 h 686788"/>
                  <a:gd name="connsiteX4" fmla="*/ 0 w 9967865"/>
                  <a:gd name="connsiteY4" fmla="*/ 0 h 686788"/>
                  <a:gd name="connsiteX0" fmla="*/ 0 w 9967865"/>
                  <a:gd name="connsiteY0" fmla="*/ 0 h 750734"/>
                  <a:gd name="connsiteX1" fmla="*/ 9967865 w 9967865"/>
                  <a:gd name="connsiteY1" fmla="*/ 0 h 750734"/>
                  <a:gd name="connsiteX2" fmla="*/ 9086239 w 9967865"/>
                  <a:gd name="connsiteY2" fmla="*/ 686788 h 750734"/>
                  <a:gd name="connsiteX3" fmla="*/ 422409 w 9967865"/>
                  <a:gd name="connsiteY3" fmla="*/ 750734 h 750734"/>
                  <a:gd name="connsiteX4" fmla="*/ 0 w 9967865"/>
                  <a:gd name="connsiteY4" fmla="*/ 0 h 750734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86239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318564 w 9967865"/>
                  <a:gd name="connsiteY2" fmla="*/ 634624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01757 w 9967865"/>
                  <a:gd name="connsiteY2" fmla="*/ 683527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929948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774813"/>
                  <a:gd name="connsiteX1" fmla="*/ 9967865 w 9967865"/>
                  <a:gd name="connsiteY1" fmla="*/ 0 h 774813"/>
                  <a:gd name="connsiteX2" fmla="*/ 9153824 w 9967865"/>
                  <a:gd name="connsiteY2" fmla="*/ 774813 h 774813"/>
                  <a:gd name="connsiteX3" fmla="*/ 4224 w 9967865"/>
                  <a:gd name="connsiteY3" fmla="*/ 688791 h 774813"/>
                  <a:gd name="connsiteX4" fmla="*/ 0 w 9967865"/>
                  <a:gd name="connsiteY4" fmla="*/ 0 h 774813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824346 w 9967865"/>
                  <a:gd name="connsiteY2" fmla="*/ 484656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90048"/>
                  <a:gd name="connsiteX1" fmla="*/ 9967865 w 9967865"/>
                  <a:gd name="connsiteY1" fmla="*/ 0 h 690048"/>
                  <a:gd name="connsiteX2" fmla="*/ 8760984 w 9967865"/>
                  <a:gd name="connsiteY2" fmla="*/ 690048 h 690048"/>
                  <a:gd name="connsiteX3" fmla="*/ 4224 w 9967865"/>
                  <a:gd name="connsiteY3" fmla="*/ 688791 h 690048"/>
                  <a:gd name="connsiteX4" fmla="*/ 0 w 9967865"/>
                  <a:gd name="connsiteY4" fmla="*/ 0 h 690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F1AC16F1-9187-19D9-776A-F80BE606B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800" y="91298"/>
              <a:ext cx="1211316" cy="380979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0FC20B4-B303-0211-F038-44F277875EAF}"/>
              </a:ext>
            </a:extLst>
          </p:cNvPr>
          <p:cNvSpPr txBox="1"/>
          <p:nvPr/>
        </p:nvSpPr>
        <p:spPr>
          <a:xfrm>
            <a:off x="724617" y="147583"/>
            <a:ext cx="8229600" cy="26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chemeClr val="bg1"/>
                </a:solidFill>
                <a:latin typeface="Myriad Pro Black" panose="020B0803030403020204" pitchFamily="34" charset="0"/>
              </a:rPr>
              <a:t>Системотехнический анализ и проектирование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69938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823111-549D-15F2-27E9-5231FADAF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85750"/>
            <a:ext cx="6286500" cy="3961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223CCC-1BCA-8648-B61A-2A34FD08491D}"/>
              </a:ext>
            </a:extLst>
          </p:cNvPr>
          <p:cNvSpPr txBox="1"/>
          <p:nvPr/>
        </p:nvSpPr>
        <p:spPr>
          <a:xfrm>
            <a:off x="609600" y="4171950"/>
            <a:ext cx="7620000" cy="45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Контекстная диаграмма процесса оптимизации в нотации </a:t>
            </a:r>
            <a:r>
              <a:rPr lang="en-US" sz="1800" b="1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IDEF</a:t>
            </a:r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1550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1AE35A-ECCA-EF49-F4ED-9ED6DA57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839200" cy="4250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550B94-D407-FCDA-201C-4F91A90A1CA5}"/>
              </a:ext>
            </a:extLst>
          </p:cNvPr>
          <p:cNvSpPr txBox="1"/>
          <p:nvPr/>
        </p:nvSpPr>
        <p:spPr>
          <a:xfrm>
            <a:off x="1143000" y="4460041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Диаграмма первого уровня декомпозиции в нотации </a:t>
            </a:r>
            <a:r>
              <a:rPr lang="en-US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IDEF</a:t>
            </a:r>
            <a:r>
              <a:rPr lang="ru-RU" sz="1800" b="1" dirty="0">
                <a:effectLst/>
                <a:latin typeface="Myriad Pro" panose="020B0503030403020204" charset="0"/>
                <a:ea typeface="Calibri" panose="020F0502020204030204" pitchFamily="34" charset="0"/>
              </a:rPr>
              <a:t>0</a:t>
            </a:r>
            <a:endParaRPr lang="ru-RU" b="1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0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9F2CADD-8BB4-D647-A08E-9DCCDED3FCFC}"/>
              </a:ext>
            </a:extLst>
          </p:cNvPr>
          <p:cNvGrpSpPr/>
          <p:nvPr/>
        </p:nvGrpSpPr>
        <p:grpSpPr>
          <a:xfrm>
            <a:off x="0" y="-5563"/>
            <a:ext cx="9144000" cy="574705"/>
            <a:chOff x="0" y="-5563"/>
            <a:chExt cx="9144000" cy="574705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B1FAF83C-EB00-0033-A22D-C0720B9833B2}"/>
                </a:ext>
              </a:extLst>
            </p:cNvPr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67113C1D-9E75-6A5D-B4FE-886E023B58AC}"/>
                  </a:ext>
                </a:extLst>
              </p:cNvPr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8" name="Полилиния 13">
                <a:extLst>
                  <a:ext uri="{FF2B5EF4-FFF2-40B4-BE49-F238E27FC236}">
                    <a16:creationId xmlns:a16="http://schemas.microsoft.com/office/drawing/2014/main" id="{5674930A-51A5-D9BB-3FEE-7199302FE199}"/>
                  </a:ext>
                </a:extLst>
              </p:cNvPr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>
                  <a:gd name="connsiteX0" fmla="*/ 0 w 9967865"/>
                  <a:gd name="connsiteY0" fmla="*/ 0 h 679010"/>
                  <a:gd name="connsiteX1" fmla="*/ 9967865 w 9967865"/>
                  <a:gd name="connsiteY1" fmla="*/ 0 h 679010"/>
                  <a:gd name="connsiteX2" fmla="*/ 7659232 w 9967865"/>
                  <a:gd name="connsiteY2" fmla="*/ 679010 h 679010"/>
                  <a:gd name="connsiteX3" fmla="*/ 0 w 9967865"/>
                  <a:gd name="connsiteY3" fmla="*/ 679010 h 679010"/>
                  <a:gd name="connsiteX4" fmla="*/ 0 w 9967865"/>
                  <a:gd name="connsiteY4" fmla="*/ 0 h 679010"/>
                  <a:gd name="connsiteX0" fmla="*/ 0 w 9967865"/>
                  <a:gd name="connsiteY0" fmla="*/ 0 h 686788"/>
                  <a:gd name="connsiteX1" fmla="*/ 9967865 w 9967865"/>
                  <a:gd name="connsiteY1" fmla="*/ 0 h 686788"/>
                  <a:gd name="connsiteX2" fmla="*/ 9086239 w 9967865"/>
                  <a:gd name="connsiteY2" fmla="*/ 686788 h 686788"/>
                  <a:gd name="connsiteX3" fmla="*/ 0 w 9967865"/>
                  <a:gd name="connsiteY3" fmla="*/ 679010 h 686788"/>
                  <a:gd name="connsiteX4" fmla="*/ 0 w 9967865"/>
                  <a:gd name="connsiteY4" fmla="*/ 0 h 686788"/>
                  <a:gd name="connsiteX0" fmla="*/ 0 w 9967865"/>
                  <a:gd name="connsiteY0" fmla="*/ 0 h 750734"/>
                  <a:gd name="connsiteX1" fmla="*/ 9967865 w 9967865"/>
                  <a:gd name="connsiteY1" fmla="*/ 0 h 750734"/>
                  <a:gd name="connsiteX2" fmla="*/ 9086239 w 9967865"/>
                  <a:gd name="connsiteY2" fmla="*/ 686788 h 750734"/>
                  <a:gd name="connsiteX3" fmla="*/ 422409 w 9967865"/>
                  <a:gd name="connsiteY3" fmla="*/ 750734 h 750734"/>
                  <a:gd name="connsiteX4" fmla="*/ 0 w 9967865"/>
                  <a:gd name="connsiteY4" fmla="*/ 0 h 750734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86239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318564 w 9967865"/>
                  <a:gd name="connsiteY2" fmla="*/ 634624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01757 w 9967865"/>
                  <a:gd name="connsiteY2" fmla="*/ 683527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929948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774813"/>
                  <a:gd name="connsiteX1" fmla="*/ 9967865 w 9967865"/>
                  <a:gd name="connsiteY1" fmla="*/ 0 h 774813"/>
                  <a:gd name="connsiteX2" fmla="*/ 9153824 w 9967865"/>
                  <a:gd name="connsiteY2" fmla="*/ 774813 h 774813"/>
                  <a:gd name="connsiteX3" fmla="*/ 4224 w 9967865"/>
                  <a:gd name="connsiteY3" fmla="*/ 688791 h 774813"/>
                  <a:gd name="connsiteX4" fmla="*/ 0 w 9967865"/>
                  <a:gd name="connsiteY4" fmla="*/ 0 h 774813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824346 w 9967865"/>
                  <a:gd name="connsiteY2" fmla="*/ 484656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90048"/>
                  <a:gd name="connsiteX1" fmla="*/ 9967865 w 9967865"/>
                  <a:gd name="connsiteY1" fmla="*/ 0 h 690048"/>
                  <a:gd name="connsiteX2" fmla="*/ 8760984 w 9967865"/>
                  <a:gd name="connsiteY2" fmla="*/ 690048 h 690048"/>
                  <a:gd name="connsiteX3" fmla="*/ 4224 w 9967865"/>
                  <a:gd name="connsiteY3" fmla="*/ 688791 h 690048"/>
                  <a:gd name="connsiteX4" fmla="*/ 0 w 9967865"/>
                  <a:gd name="connsiteY4" fmla="*/ 0 h 690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C13B59AF-9C15-F251-1C0C-B245D7B6A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800" y="91298"/>
              <a:ext cx="1211316" cy="38097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9DEFAC1-8CF3-78E7-7275-9975631B382D}"/>
              </a:ext>
            </a:extLst>
          </p:cNvPr>
          <p:cNvSpPr txBox="1"/>
          <p:nvPr/>
        </p:nvSpPr>
        <p:spPr>
          <a:xfrm>
            <a:off x="724617" y="147583"/>
            <a:ext cx="8229600" cy="26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chemeClr val="bg1"/>
                </a:solidFill>
                <a:latin typeface="Myriad Pro Black" panose="020B0803030403020204" pitchFamily="34" charset="0"/>
              </a:rPr>
              <a:t>Системотехнический анализ и проектирование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D2792699-05CD-6479-39A4-E3025575E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20" y="819150"/>
            <a:ext cx="8534400" cy="553998"/>
          </a:xfrm>
        </p:spPr>
        <p:txBody>
          <a:bodyPr/>
          <a:lstStyle/>
          <a:p>
            <a:r>
              <a:rPr lang="ru-RU" sz="3600" b="1" dirty="0"/>
              <a:t>Обобщённый алгоритм работы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FFAA3F1-0FB4-75D0-A8A9-13CFDABE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504950"/>
            <a:ext cx="6486525" cy="311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70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4CC6D-2A91-03D6-CEC7-C60694B1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48068"/>
            <a:ext cx="6252600" cy="569387"/>
          </a:xfrm>
        </p:spPr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AA3DCA-BC45-0F6A-F934-D00979FCA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28750"/>
            <a:ext cx="5868243" cy="3323987"/>
          </a:xfrm>
        </p:spPr>
        <p:txBody>
          <a:bodyPr/>
          <a:lstStyle/>
          <a:p>
            <a:pPr lvl="0"/>
            <a:r>
              <a:rPr lang="ru-RU" sz="1800" dirty="0"/>
              <a:t>1) Представление: </a:t>
            </a:r>
            <a:r>
              <a:rPr lang="ru-RU" sz="1800" b="0" dirty="0"/>
              <a:t>интерфейс пользователя. Отображение экранных форм и информации. Отрисовка диаграммы;</a:t>
            </a:r>
          </a:p>
          <a:p>
            <a:pPr lvl="0"/>
            <a:endParaRPr lang="ru-RU" sz="1800" dirty="0"/>
          </a:p>
          <a:p>
            <a:pPr lvl="0"/>
            <a:r>
              <a:rPr lang="ru-RU" sz="1800" dirty="0"/>
              <a:t>2) Логика</a:t>
            </a:r>
            <a:r>
              <a:rPr lang="ru-RU" sz="1800" b="0" dirty="0"/>
              <a:t>: управление жизненным циклом программы, связь между слоями. Работа со структурами входных и выходных данных, а также математическими объектами </a:t>
            </a:r>
            <a:r>
              <a:rPr lang="en-US" sz="1800" b="0" dirty="0"/>
              <a:t>API</a:t>
            </a:r>
            <a:r>
              <a:rPr lang="ru-RU" sz="1800" b="0" dirty="0"/>
              <a:t>;</a:t>
            </a:r>
          </a:p>
          <a:p>
            <a:pPr lvl="0"/>
            <a:endParaRPr lang="ru-RU" sz="1800" dirty="0"/>
          </a:p>
          <a:p>
            <a:pPr lvl="0"/>
            <a:r>
              <a:rPr lang="ru-RU" sz="1800" dirty="0"/>
              <a:t>3) Данные: </a:t>
            </a:r>
            <a:r>
              <a:rPr lang="ru-RU" sz="1800" b="0" dirty="0"/>
              <a:t>вычислительный модуль, основан на CPLEX. Принимает объект модели и выполняет математические расчёты. Возвращает результаты оптимизации.</a:t>
            </a:r>
          </a:p>
          <a:p>
            <a:endParaRPr lang="ru-RU" sz="1800" b="0" dirty="0">
              <a:latin typeface="Myriad Pro" panose="020B050303040302020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61E5DE-7564-D5E4-4432-9F906ADC5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82" y="968535"/>
            <a:ext cx="2105461" cy="3206429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A347707-3D10-5F1F-D96F-A2FCBEF79DC4}"/>
              </a:ext>
            </a:extLst>
          </p:cNvPr>
          <p:cNvGrpSpPr/>
          <p:nvPr/>
        </p:nvGrpSpPr>
        <p:grpSpPr>
          <a:xfrm>
            <a:off x="0" y="-5563"/>
            <a:ext cx="9144000" cy="574705"/>
            <a:chOff x="0" y="-5563"/>
            <a:chExt cx="9144000" cy="574705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1EF1BCD-2F4F-54F9-F180-AC8A6CC2204E}"/>
                </a:ext>
              </a:extLst>
            </p:cNvPr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B0567BB9-EAB2-0FC8-1195-A484F13FB27F}"/>
                  </a:ext>
                </a:extLst>
              </p:cNvPr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0" name="Полилиния 13">
                <a:extLst>
                  <a:ext uri="{FF2B5EF4-FFF2-40B4-BE49-F238E27FC236}">
                    <a16:creationId xmlns:a16="http://schemas.microsoft.com/office/drawing/2014/main" id="{38ED77F5-5116-B7A3-AE59-2621488CADFF}"/>
                  </a:ext>
                </a:extLst>
              </p:cNvPr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>
                  <a:gd name="connsiteX0" fmla="*/ 0 w 9967865"/>
                  <a:gd name="connsiteY0" fmla="*/ 0 h 679010"/>
                  <a:gd name="connsiteX1" fmla="*/ 9967865 w 9967865"/>
                  <a:gd name="connsiteY1" fmla="*/ 0 h 679010"/>
                  <a:gd name="connsiteX2" fmla="*/ 7659232 w 9967865"/>
                  <a:gd name="connsiteY2" fmla="*/ 679010 h 679010"/>
                  <a:gd name="connsiteX3" fmla="*/ 0 w 9967865"/>
                  <a:gd name="connsiteY3" fmla="*/ 679010 h 679010"/>
                  <a:gd name="connsiteX4" fmla="*/ 0 w 9967865"/>
                  <a:gd name="connsiteY4" fmla="*/ 0 h 679010"/>
                  <a:gd name="connsiteX0" fmla="*/ 0 w 9967865"/>
                  <a:gd name="connsiteY0" fmla="*/ 0 h 686788"/>
                  <a:gd name="connsiteX1" fmla="*/ 9967865 w 9967865"/>
                  <a:gd name="connsiteY1" fmla="*/ 0 h 686788"/>
                  <a:gd name="connsiteX2" fmla="*/ 9086239 w 9967865"/>
                  <a:gd name="connsiteY2" fmla="*/ 686788 h 686788"/>
                  <a:gd name="connsiteX3" fmla="*/ 0 w 9967865"/>
                  <a:gd name="connsiteY3" fmla="*/ 679010 h 686788"/>
                  <a:gd name="connsiteX4" fmla="*/ 0 w 9967865"/>
                  <a:gd name="connsiteY4" fmla="*/ 0 h 686788"/>
                  <a:gd name="connsiteX0" fmla="*/ 0 w 9967865"/>
                  <a:gd name="connsiteY0" fmla="*/ 0 h 750734"/>
                  <a:gd name="connsiteX1" fmla="*/ 9967865 w 9967865"/>
                  <a:gd name="connsiteY1" fmla="*/ 0 h 750734"/>
                  <a:gd name="connsiteX2" fmla="*/ 9086239 w 9967865"/>
                  <a:gd name="connsiteY2" fmla="*/ 686788 h 750734"/>
                  <a:gd name="connsiteX3" fmla="*/ 422409 w 9967865"/>
                  <a:gd name="connsiteY3" fmla="*/ 750734 h 750734"/>
                  <a:gd name="connsiteX4" fmla="*/ 0 w 9967865"/>
                  <a:gd name="connsiteY4" fmla="*/ 0 h 750734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86239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318564 w 9967865"/>
                  <a:gd name="connsiteY2" fmla="*/ 634624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01757 w 9967865"/>
                  <a:gd name="connsiteY2" fmla="*/ 683527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929948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774813"/>
                  <a:gd name="connsiteX1" fmla="*/ 9967865 w 9967865"/>
                  <a:gd name="connsiteY1" fmla="*/ 0 h 774813"/>
                  <a:gd name="connsiteX2" fmla="*/ 9153824 w 9967865"/>
                  <a:gd name="connsiteY2" fmla="*/ 774813 h 774813"/>
                  <a:gd name="connsiteX3" fmla="*/ 4224 w 9967865"/>
                  <a:gd name="connsiteY3" fmla="*/ 688791 h 774813"/>
                  <a:gd name="connsiteX4" fmla="*/ 0 w 9967865"/>
                  <a:gd name="connsiteY4" fmla="*/ 0 h 774813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824346 w 9967865"/>
                  <a:gd name="connsiteY2" fmla="*/ 484656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90048"/>
                  <a:gd name="connsiteX1" fmla="*/ 9967865 w 9967865"/>
                  <a:gd name="connsiteY1" fmla="*/ 0 h 690048"/>
                  <a:gd name="connsiteX2" fmla="*/ 8760984 w 9967865"/>
                  <a:gd name="connsiteY2" fmla="*/ 690048 h 690048"/>
                  <a:gd name="connsiteX3" fmla="*/ 4224 w 9967865"/>
                  <a:gd name="connsiteY3" fmla="*/ 688791 h 690048"/>
                  <a:gd name="connsiteX4" fmla="*/ 0 w 9967865"/>
                  <a:gd name="connsiteY4" fmla="*/ 0 h 690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578D5C0F-F9FB-0642-2795-8B69D1BA8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800" y="91298"/>
              <a:ext cx="1211316" cy="38097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8B4ED8-0826-7FAF-8038-8FEA45398A51}"/>
              </a:ext>
            </a:extLst>
          </p:cNvPr>
          <p:cNvSpPr txBox="1"/>
          <p:nvPr/>
        </p:nvSpPr>
        <p:spPr>
          <a:xfrm>
            <a:off x="724617" y="147583"/>
            <a:ext cx="8229600" cy="26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chemeClr val="bg1"/>
                </a:solidFill>
                <a:latin typeface="Myriad Pro Black" panose="020B0803030403020204" pitchFamily="34" charset="0"/>
              </a:rPr>
              <a:t>Системотехнический анализ и проектирование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317744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AD90AA-CE59-D609-9AE3-AFF8266ED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209951"/>
            <a:ext cx="5486400" cy="51511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247309-03EC-32AE-0838-9E12E566B5AB}"/>
              </a:ext>
            </a:extLst>
          </p:cNvPr>
          <p:cNvSpPr txBox="1"/>
          <p:nvPr/>
        </p:nvSpPr>
        <p:spPr>
          <a:xfrm>
            <a:off x="5638800" y="209951"/>
            <a:ext cx="3429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Алгоритм работы системы с учётом уровней архитектуры</a:t>
            </a:r>
            <a:endParaRPr lang="en-US" sz="2400" b="1" dirty="0"/>
          </a:p>
          <a:p>
            <a:endParaRPr lang="en-US" sz="2000" b="1" dirty="0"/>
          </a:p>
          <a:p>
            <a:r>
              <a:rPr lang="ru-RU" dirty="0">
                <a:latin typeface="Myriad Pro" panose="020B0503030403020204" charset="0"/>
              </a:rPr>
              <a:t>Диаграмма последовательности </a:t>
            </a:r>
            <a:r>
              <a:rPr lang="en-US" dirty="0">
                <a:latin typeface="Myriad Pro" panose="020B0503030403020204" charset="0"/>
              </a:rPr>
              <a:t>UML</a:t>
            </a:r>
            <a:endParaRPr lang="ru-RU" dirty="0">
              <a:latin typeface="Myriad Pro" panose="020B05030304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449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0" y="-5563"/>
            <a:ext cx="9144000" cy="5149063"/>
            <a:chOff x="-2931" y="-6103"/>
            <a:chExt cx="12194930" cy="867688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0" y="-6103"/>
              <a:ext cx="12191999" cy="8676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Полилиния 9"/>
            <p:cNvSpPr/>
            <p:nvPr/>
          </p:nvSpPr>
          <p:spPr>
            <a:xfrm>
              <a:off x="-2931" y="-6103"/>
              <a:ext cx="8638075" cy="867685"/>
            </a:xfrm>
            <a:custGeom>
              <a:avLst/>
              <a:gdLst>
                <a:gd name="connsiteX0" fmla="*/ 0 w 9967865"/>
                <a:gd name="connsiteY0" fmla="*/ 0 h 679010"/>
                <a:gd name="connsiteX1" fmla="*/ 9967865 w 9967865"/>
                <a:gd name="connsiteY1" fmla="*/ 0 h 679010"/>
                <a:gd name="connsiteX2" fmla="*/ 7659232 w 9967865"/>
                <a:gd name="connsiteY2" fmla="*/ 679010 h 679010"/>
                <a:gd name="connsiteX3" fmla="*/ 0 w 9967865"/>
                <a:gd name="connsiteY3" fmla="*/ 679010 h 679010"/>
                <a:gd name="connsiteX4" fmla="*/ 0 w 9967865"/>
                <a:gd name="connsiteY4" fmla="*/ 0 h 679010"/>
                <a:gd name="connsiteX0" fmla="*/ 0 w 9967865"/>
                <a:gd name="connsiteY0" fmla="*/ 0 h 686788"/>
                <a:gd name="connsiteX1" fmla="*/ 9967865 w 9967865"/>
                <a:gd name="connsiteY1" fmla="*/ 0 h 686788"/>
                <a:gd name="connsiteX2" fmla="*/ 9086239 w 9967865"/>
                <a:gd name="connsiteY2" fmla="*/ 686788 h 686788"/>
                <a:gd name="connsiteX3" fmla="*/ 0 w 9967865"/>
                <a:gd name="connsiteY3" fmla="*/ 679010 h 686788"/>
                <a:gd name="connsiteX4" fmla="*/ 0 w 9967865"/>
                <a:gd name="connsiteY4" fmla="*/ 0 h 686788"/>
                <a:gd name="connsiteX0" fmla="*/ 0 w 9967865"/>
                <a:gd name="connsiteY0" fmla="*/ 0 h 750734"/>
                <a:gd name="connsiteX1" fmla="*/ 9967865 w 9967865"/>
                <a:gd name="connsiteY1" fmla="*/ 0 h 750734"/>
                <a:gd name="connsiteX2" fmla="*/ 9086239 w 9967865"/>
                <a:gd name="connsiteY2" fmla="*/ 686788 h 750734"/>
                <a:gd name="connsiteX3" fmla="*/ 422409 w 9967865"/>
                <a:gd name="connsiteY3" fmla="*/ 750734 h 750734"/>
                <a:gd name="connsiteX4" fmla="*/ 0 w 9967865"/>
                <a:gd name="connsiteY4" fmla="*/ 0 h 750734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086239 w 9967865"/>
                <a:gd name="connsiteY2" fmla="*/ 686788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318564 w 9967865"/>
                <a:gd name="connsiteY2" fmla="*/ 634624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001757 w 9967865"/>
                <a:gd name="connsiteY2" fmla="*/ 683527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8929948 w 9967865"/>
                <a:gd name="connsiteY2" fmla="*/ 686788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774813"/>
                <a:gd name="connsiteX1" fmla="*/ 9967865 w 9967865"/>
                <a:gd name="connsiteY1" fmla="*/ 0 h 774813"/>
                <a:gd name="connsiteX2" fmla="*/ 9153824 w 9967865"/>
                <a:gd name="connsiteY2" fmla="*/ 774813 h 774813"/>
                <a:gd name="connsiteX3" fmla="*/ 4224 w 9967865"/>
                <a:gd name="connsiteY3" fmla="*/ 688791 h 774813"/>
                <a:gd name="connsiteX4" fmla="*/ 0 w 9967865"/>
                <a:gd name="connsiteY4" fmla="*/ 0 h 774813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8824346 w 9967865"/>
                <a:gd name="connsiteY2" fmla="*/ 484656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90048"/>
                <a:gd name="connsiteX1" fmla="*/ 9967865 w 9967865"/>
                <a:gd name="connsiteY1" fmla="*/ 0 h 690048"/>
                <a:gd name="connsiteX2" fmla="*/ 8760984 w 9967865"/>
                <a:gd name="connsiteY2" fmla="*/ 690048 h 690048"/>
                <a:gd name="connsiteX3" fmla="*/ 4224 w 9967865"/>
                <a:gd name="connsiteY3" fmla="*/ 688791 h 690048"/>
                <a:gd name="connsiteX4" fmla="*/ 0 w 9967865"/>
                <a:gd name="connsiteY4" fmla="*/ 0 h 690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67865" h="690048">
                  <a:moveTo>
                    <a:pt x="0" y="0"/>
                  </a:moveTo>
                  <a:lnTo>
                    <a:pt x="9967865" y="0"/>
                  </a:lnTo>
                  <a:lnTo>
                    <a:pt x="8760984" y="690048"/>
                  </a:lnTo>
                  <a:lnTo>
                    <a:pt x="4224" y="688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1" name="object 3"/>
          <p:cNvSpPr txBox="1"/>
          <p:nvPr/>
        </p:nvSpPr>
        <p:spPr>
          <a:xfrm>
            <a:off x="838200" y="1524630"/>
            <a:ext cx="7543800" cy="1754776"/>
          </a:xfrm>
          <a:prstGeom prst="rect">
            <a:avLst/>
          </a:prstGeom>
        </p:spPr>
        <p:txBody>
          <a:bodyPr vert="horz" wrap="square" lIns="0" tIns="419100" rIns="0" bIns="0" rtlCol="0" anchor="ctr" anchorCtr="0">
            <a:spAutoFit/>
          </a:bodyPr>
          <a:lstStyle/>
          <a:p>
            <a:pPr marR="5080">
              <a:lnSpc>
                <a:spcPct val="70000"/>
              </a:lnSpc>
            </a:pPr>
            <a:r>
              <a:rPr lang="ru-RU" sz="6000" dirty="0">
                <a:solidFill>
                  <a:schemeClr val="bg1"/>
                </a:solidFill>
                <a:latin typeface="Myriad Pro Black" panose="020B0803030403020204" pitchFamily="34" charset="0"/>
                <a:cs typeface="Calibri"/>
              </a:rPr>
              <a:t>СПАСИБО</a:t>
            </a:r>
            <a:br>
              <a:rPr lang="ru-RU" sz="6000" dirty="0">
                <a:solidFill>
                  <a:schemeClr val="bg1"/>
                </a:solidFill>
                <a:latin typeface="Myriad Pro Black" panose="020B0803030403020204" pitchFamily="34" charset="0"/>
                <a:cs typeface="Calibri"/>
              </a:rPr>
            </a:br>
            <a:r>
              <a:rPr lang="ru-RU" sz="6000" dirty="0">
                <a:solidFill>
                  <a:schemeClr val="bg1"/>
                </a:solidFill>
                <a:latin typeface="Myriad Pro Black" panose="020B0803030403020204" pitchFamily="34" charset="0"/>
                <a:cs typeface="Calibri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3387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243</Words>
  <Application>Microsoft Office PowerPoint</Application>
  <PresentationFormat>Экран (16:9)</PresentationFormat>
  <Paragraphs>29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Myriad Pro</vt:lpstr>
      <vt:lpstr>Myriad Pro Black</vt:lpstr>
      <vt:lpstr>Century Gothic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Функциональная модель IDEF0 </vt:lpstr>
      <vt:lpstr>Презентация PowerPoint</vt:lpstr>
      <vt:lpstr>Презентация PowerPoint</vt:lpstr>
      <vt:lpstr>Обобщённый алгоритм работы</vt:lpstr>
      <vt:lpstr>Архитектура системы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 Федорович Урожай</dc:creator>
  <cp:lastModifiedBy>Константин Мовенко</cp:lastModifiedBy>
  <cp:revision>138</cp:revision>
  <dcterms:created xsi:type="dcterms:W3CDTF">2021-03-12T05:54:09Z</dcterms:created>
  <dcterms:modified xsi:type="dcterms:W3CDTF">2026-06-01T13:59:46Z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