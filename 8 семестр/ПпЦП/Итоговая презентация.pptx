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379" r:id="rId4"/>
    <p:sldId id="380" r:id="rId5"/>
    <p:sldId id="381" r:id="rId6"/>
    <p:sldId id="382" r:id="rId7"/>
    <p:sldId id="383" r:id="rId8"/>
    <p:sldId id="384" r:id="rId9"/>
    <p:sldId id="387" r:id="rId10"/>
    <p:sldId id="385" r:id="rId11"/>
    <p:sldId id="386" r:id="rId12"/>
    <p:sldId id="388" r:id="rId13"/>
    <p:sldId id="391" r:id="rId14"/>
    <p:sldId id="389" r:id="rId15"/>
    <p:sldId id="390" r:id="rId16"/>
    <p:sldId id="378" r:id="rId17"/>
  </p:sldIdLst>
  <p:sldSz cx="9144000" cy="5143500" type="screen16x9"/>
  <p:notesSz cx="9144000" cy="5143500"/>
  <p:embeddedFontLst>
    <p:embeddedFont>
      <p:font typeface="Cambria Math" panose="02040503050406030204" pitchFamily="18" charset="0"/>
      <p:regular r:id="rId19"/>
    </p:embeddedFont>
    <p:embeddedFont>
      <p:font typeface="Century Gothic" panose="020B0502020202020204" pitchFamily="34" charset="0"/>
      <p:regular r:id="rId20"/>
      <p:bold r:id="rId21"/>
      <p:italic r:id="rId22"/>
      <p:boldItalic r:id="rId23"/>
    </p:embeddedFont>
    <p:embeddedFont>
      <p:font typeface="Myriad Pro" panose="020B0503030403020204" charset="0"/>
      <p:regular r:id="rId24"/>
      <p:bold r:id="rId25"/>
      <p:italic r:id="rId26"/>
      <p:boldItalic r:id="rId27"/>
    </p:embeddedFont>
    <p:embeddedFont>
      <p:font typeface="Myriad Pro Black" panose="020B0803030403020204" charset="0"/>
      <p:bold r:id="rId2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C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42" autoAdjust="0"/>
  </p:normalViewPr>
  <p:slideViewPr>
    <p:cSldViewPr>
      <p:cViewPr varScale="1">
        <p:scale>
          <a:sx n="84" d="100"/>
          <a:sy n="84" d="100"/>
        </p:scale>
        <p:origin x="780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40C1F-0032-431C-8FAB-96526BBF0541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4DA95A-3894-4F42-9E15-06A957E1C8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334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577365" y="1272837"/>
            <a:ext cx="3989268" cy="1549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00" b="0" i="0">
                <a:solidFill>
                  <a:srgbClr val="3333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545319" y="3454316"/>
            <a:ext cx="4053361" cy="696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700" b="1" i="0">
                <a:solidFill>
                  <a:srgbClr val="292929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700" b="1" i="0">
                <a:solidFill>
                  <a:srgbClr val="292929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700" b="1" i="0">
                <a:solidFill>
                  <a:srgbClr val="292929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86455" y="1531791"/>
            <a:ext cx="3150870" cy="27203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92929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314625" y="1300315"/>
            <a:ext cx="3256279" cy="2854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1">
                <a:solidFill>
                  <a:schemeClr val="bg1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700" b="1" i="0">
                <a:solidFill>
                  <a:srgbClr val="292929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45699" y="900379"/>
            <a:ext cx="6252600" cy="1151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445699" y="900379"/>
            <a:ext cx="6252600" cy="1151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" y="0"/>
            <a:ext cx="9144000" cy="51435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658205"/>
            <a:ext cx="3352800" cy="105451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21056" y="1809750"/>
            <a:ext cx="6822743" cy="444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2800" dirty="0">
                <a:solidFill>
                  <a:schemeClr val="bg1"/>
                </a:solidFill>
                <a:latin typeface="Myriad Pro Black" panose="020B0803030403020204" pitchFamily="34" charset="0"/>
              </a:rPr>
              <a:t>Разработка системы оптимизации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1056" y="4183618"/>
            <a:ext cx="4231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Myriad Pro Black" panose="020B0803030403020204" pitchFamily="34" charset="0"/>
              </a:rPr>
              <a:t>ДОКЛАДЧИК</a:t>
            </a:r>
            <a:r>
              <a:rPr lang="en-US" dirty="0">
                <a:solidFill>
                  <a:schemeClr val="bg1"/>
                </a:solidFill>
                <a:latin typeface="Myriad Pro Black" panose="020B0803030403020204" pitchFamily="34" charset="0"/>
              </a:rPr>
              <a:t>:</a:t>
            </a:r>
            <a:br>
              <a:rPr lang="en-US" dirty="0">
                <a:solidFill>
                  <a:schemeClr val="bg1"/>
                </a:solidFill>
                <a:latin typeface="Myriad Pro Black" panose="020B0803030403020204" pitchFamily="34" charset="0"/>
              </a:rPr>
            </a:br>
            <a:r>
              <a:rPr lang="ru-RU" dirty="0">
                <a:solidFill>
                  <a:schemeClr val="bg1"/>
                </a:solidFill>
                <a:latin typeface="Myriad Pro Black" panose="020B0803030403020204" pitchFamily="34" charset="0"/>
              </a:rPr>
              <a:t>К.М. Мовенко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89011-3DBD-9AEC-F450-395F0D2FB640}"/>
              </a:ext>
            </a:extLst>
          </p:cNvPr>
          <p:cNvSpPr txBox="1"/>
          <p:nvPr/>
        </p:nvSpPr>
        <p:spPr>
          <a:xfrm>
            <a:off x="2209800" y="272415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A53DAD-39B7-8A15-FE2E-3B8501B72A9F}"/>
              </a:ext>
            </a:extLst>
          </p:cNvPr>
          <p:cNvSpPr txBox="1"/>
          <p:nvPr/>
        </p:nvSpPr>
        <p:spPr>
          <a:xfrm>
            <a:off x="721056" y="2336630"/>
            <a:ext cx="5603544" cy="983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ru-RU" b="1" dirty="0">
                <a:solidFill>
                  <a:schemeClr val="bg1"/>
                </a:solidFill>
                <a:latin typeface="Myriad Pro Black" panose="020B0803030403020204" pitchFamily="34" charset="0"/>
              </a:rPr>
              <a:t>р</a:t>
            </a:r>
            <a:r>
              <a:rPr lang="ru-RU" sz="1800" b="1" dirty="0">
                <a:solidFill>
                  <a:schemeClr val="bg1"/>
                </a:solidFill>
                <a:latin typeface="Myriad Pro Black" panose="020B0803030403020204" pitchFamily="34" charset="0"/>
              </a:rPr>
              <a:t>асписания</a:t>
            </a:r>
            <a:r>
              <a:rPr lang="ru-RU" sz="1800" dirty="0">
                <a:solidFill>
                  <a:schemeClr val="bg1"/>
                </a:solidFill>
                <a:latin typeface="Myriad Pro Black" panose="020B0803030403020204" pitchFamily="34" charset="0"/>
              </a:rPr>
              <a:t> выполнения пакетов заданий в конвейерных системах при учёте технического обслуживания приборов с использованием целочисленного программирования.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Группа 22"/>
          <p:cNvGrpSpPr/>
          <p:nvPr/>
        </p:nvGrpSpPr>
        <p:grpSpPr>
          <a:xfrm>
            <a:off x="0" y="-5563"/>
            <a:ext cx="9144000" cy="574705"/>
            <a:chOff x="0" y="-5563"/>
            <a:chExt cx="9144000" cy="574705"/>
          </a:xfrm>
        </p:grpSpPr>
        <p:grpSp>
          <p:nvGrpSpPr>
            <p:cNvPr id="12" name="Группа 11"/>
            <p:cNvGrpSpPr/>
            <p:nvPr/>
          </p:nvGrpSpPr>
          <p:grpSpPr>
            <a:xfrm>
              <a:off x="0" y="-5563"/>
              <a:ext cx="9144000" cy="574705"/>
              <a:chOff x="-2931" y="-6103"/>
              <a:chExt cx="12194930" cy="867688"/>
            </a:xfrm>
          </p:grpSpPr>
          <p:sp>
            <p:nvSpPr>
              <p:cNvPr id="13" name="Прямоугольник 12"/>
              <p:cNvSpPr/>
              <p:nvPr/>
            </p:nvSpPr>
            <p:spPr>
              <a:xfrm>
                <a:off x="0" y="-6103"/>
                <a:ext cx="12191999" cy="867688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4" name="Полилиния 13"/>
              <p:cNvSpPr/>
              <p:nvPr/>
            </p:nvSpPr>
            <p:spPr>
              <a:xfrm>
                <a:off x="-2931" y="-6103"/>
                <a:ext cx="8638075" cy="867685"/>
              </a:xfrm>
              <a:custGeom>
                <a:avLst/>
                <a:gdLst>
                  <a:gd name="connsiteX0" fmla="*/ 0 w 9967865"/>
                  <a:gd name="connsiteY0" fmla="*/ 0 h 679010"/>
                  <a:gd name="connsiteX1" fmla="*/ 9967865 w 9967865"/>
                  <a:gd name="connsiteY1" fmla="*/ 0 h 679010"/>
                  <a:gd name="connsiteX2" fmla="*/ 7659232 w 9967865"/>
                  <a:gd name="connsiteY2" fmla="*/ 679010 h 679010"/>
                  <a:gd name="connsiteX3" fmla="*/ 0 w 9967865"/>
                  <a:gd name="connsiteY3" fmla="*/ 679010 h 679010"/>
                  <a:gd name="connsiteX4" fmla="*/ 0 w 9967865"/>
                  <a:gd name="connsiteY4" fmla="*/ 0 h 679010"/>
                  <a:gd name="connsiteX0" fmla="*/ 0 w 9967865"/>
                  <a:gd name="connsiteY0" fmla="*/ 0 h 686788"/>
                  <a:gd name="connsiteX1" fmla="*/ 9967865 w 9967865"/>
                  <a:gd name="connsiteY1" fmla="*/ 0 h 686788"/>
                  <a:gd name="connsiteX2" fmla="*/ 9086239 w 9967865"/>
                  <a:gd name="connsiteY2" fmla="*/ 686788 h 686788"/>
                  <a:gd name="connsiteX3" fmla="*/ 0 w 9967865"/>
                  <a:gd name="connsiteY3" fmla="*/ 679010 h 686788"/>
                  <a:gd name="connsiteX4" fmla="*/ 0 w 9967865"/>
                  <a:gd name="connsiteY4" fmla="*/ 0 h 686788"/>
                  <a:gd name="connsiteX0" fmla="*/ 0 w 9967865"/>
                  <a:gd name="connsiteY0" fmla="*/ 0 h 750734"/>
                  <a:gd name="connsiteX1" fmla="*/ 9967865 w 9967865"/>
                  <a:gd name="connsiteY1" fmla="*/ 0 h 750734"/>
                  <a:gd name="connsiteX2" fmla="*/ 9086239 w 9967865"/>
                  <a:gd name="connsiteY2" fmla="*/ 686788 h 750734"/>
                  <a:gd name="connsiteX3" fmla="*/ 422409 w 9967865"/>
                  <a:gd name="connsiteY3" fmla="*/ 750734 h 750734"/>
                  <a:gd name="connsiteX4" fmla="*/ 0 w 9967865"/>
                  <a:gd name="connsiteY4" fmla="*/ 0 h 750734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86239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318564 w 9967865"/>
                  <a:gd name="connsiteY2" fmla="*/ 634624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01757 w 9967865"/>
                  <a:gd name="connsiteY2" fmla="*/ 683527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929948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774813"/>
                  <a:gd name="connsiteX1" fmla="*/ 9967865 w 9967865"/>
                  <a:gd name="connsiteY1" fmla="*/ 0 h 774813"/>
                  <a:gd name="connsiteX2" fmla="*/ 9153824 w 9967865"/>
                  <a:gd name="connsiteY2" fmla="*/ 774813 h 774813"/>
                  <a:gd name="connsiteX3" fmla="*/ 4224 w 9967865"/>
                  <a:gd name="connsiteY3" fmla="*/ 688791 h 774813"/>
                  <a:gd name="connsiteX4" fmla="*/ 0 w 9967865"/>
                  <a:gd name="connsiteY4" fmla="*/ 0 h 774813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824346 w 9967865"/>
                  <a:gd name="connsiteY2" fmla="*/ 484656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90048"/>
                  <a:gd name="connsiteX1" fmla="*/ 9967865 w 9967865"/>
                  <a:gd name="connsiteY1" fmla="*/ 0 h 690048"/>
                  <a:gd name="connsiteX2" fmla="*/ 8760984 w 9967865"/>
                  <a:gd name="connsiteY2" fmla="*/ 690048 h 690048"/>
                  <a:gd name="connsiteX3" fmla="*/ 4224 w 9967865"/>
                  <a:gd name="connsiteY3" fmla="*/ 688791 h 690048"/>
                  <a:gd name="connsiteX4" fmla="*/ 0 w 9967865"/>
                  <a:gd name="connsiteY4" fmla="*/ 0 h 690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7865" h="690048">
                    <a:moveTo>
                      <a:pt x="0" y="0"/>
                    </a:moveTo>
                    <a:lnTo>
                      <a:pt x="9967865" y="0"/>
                    </a:lnTo>
                    <a:lnTo>
                      <a:pt x="8760984" y="690048"/>
                    </a:lnTo>
                    <a:lnTo>
                      <a:pt x="4224" y="688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800" y="91298"/>
              <a:ext cx="1211316" cy="380979"/>
            </a:xfrm>
            <a:prstGeom prst="rect">
              <a:avLst/>
            </a:prstGeom>
          </p:spPr>
        </p:pic>
      </p:grpSp>
      <p:sp>
        <p:nvSpPr>
          <p:cNvPr id="19" name="object 3"/>
          <p:cNvSpPr txBox="1"/>
          <p:nvPr/>
        </p:nvSpPr>
        <p:spPr>
          <a:xfrm>
            <a:off x="726375" y="1123950"/>
            <a:ext cx="7655625" cy="2111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2800" dirty="0">
                <a:latin typeface="Myriad Pro Black" panose="020B0803030403020204" pitchFamily="34" charset="0"/>
              </a:rPr>
              <a:t>Диаграммы потоков данных</a:t>
            </a:r>
            <a:endParaRPr lang="ru-RU" sz="1400" dirty="0">
              <a:latin typeface="Myriad Pro Black" panose="020B0803030403020204" pitchFamily="34" charset="0"/>
            </a:endParaRPr>
          </a:p>
          <a:p>
            <a:endParaRPr lang="ru-RU" sz="1400" dirty="0">
              <a:latin typeface="Myriad Pro Black" panose="020B0803030403020204" pitchFamily="34" charset="0"/>
            </a:endParaRPr>
          </a:p>
          <a:p>
            <a:pPr>
              <a:spcAft>
                <a:spcPts val="1200"/>
              </a:spcAft>
            </a:pPr>
            <a:r>
              <a:rPr lang="ru-RU" sz="2000" dirty="0">
                <a:latin typeface="Myriad Pro" panose="020B0503030403020204" pitchFamily="34" charset="0"/>
              </a:rPr>
              <a:t>Процесс проектирования системы был начат с анализа того, какие данные участвуют в процессе функционирования системы, откуда они приходят, куда передаются, где хранятся и как преобразуются. Для визуализации этого анализа была построена </a:t>
            </a:r>
            <a:r>
              <a:rPr lang="ru-RU" sz="2000" b="1" dirty="0">
                <a:latin typeface="Myriad Pro" panose="020B0503030403020204" pitchFamily="34" charset="0"/>
              </a:rPr>
              <a:t>диаграмма DFD </a:t>
            </a:r>
            <a:r>
              <a:rPr lang="ru-RU" sz="2000" dirty="0">
                <a:latin typeface="Myriad Pro" panose="020B0503030403020204" pitchFamily="34" charset="0"/>
              </a:rPr>
              <a:t>в нотации Гейна-Сарсона.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617" y="147583"/>
            <a:ext cx="8229600" cy="268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400" dirty="0">
                <a:solidFill>
                  <a:schemeClr val="bg1"/>
                </a:solidFill>
                <a:latin typeface="Myriad Pro Black" panose="020B0803030403020204" pitchFamily="34" charset="0"/>
              </a:rPr>
              <a:t>Системотехнический анализ и проектирование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099C040-AED1-1665-1F28-C769C71CA79D}"/>
              </a:ext>
            </a:extLst>
          </p:cNvPr>
          <p:cNvSpPr txBox="1"/>
          <p:nvPr/>
        </p:nvSpPr>
        <p:spPr>
          <a:xfrm>
            <a:off x="1676400" y="4248150"/>
            <a:ext cx="624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latin typeface="Myriad Pro" panose="020B0503030403020204" charset="0"/>
              </a:rPr>
              <a:t>Контекстная DFD-диаграмма системы оптимизации расписаний пакетов задач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6C94A28-894E-4C24-895D-BC0083556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42950"/>
            <a:ext cx="8229600" cy="3179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396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41154A0-433F-0776-5969-4BCB65B328E9}"/>
              </a:ext>
            </a:extLst>
          </p:cNvPr>
          <p:cNvSpPr txBox="1"/>
          <p:nvPr/>
        </p:nvSpPr>
        <p:spPr>
          <a:xfrm>
            <a:off x="3048000" y="3867150"/>
            <a:ext cx="3657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effectLst/>
                <a:latin typeface="Myriad Pro" panose="020B0503030403020204" charset="0"/>
                <a:ea typeface="Calibri" panose="020F0502020204030204" pitchFamily="34" charset="0"/>
              </a:rPr>
              <a:t>Декомпозиция </a:t>
            </a:r>
            <a:r>
              <a:rPr lang="en-US" sz="1800" b="1" dirty="0">
                <a:effectLst/>
                <a:latin typeface="Myriad Pro" panose="020B0503030403020204" charset="0"/>
                <a:ea typeface="Calibri" panose="020F0502020204030204" pitchFamily="34" charset="0"/>
              </a:rPr>
              <a:t>DFD</a:t>
            </a:r>
            <a:r>
              <a:rPr lang="ru-RU" sz="1800" b="1" dirty="0">
                <a:effectLst/>
                <a:latin typeface="Myriad Pro" panose="020B0503030403020204" charset="0"/>
                <a:ea typeface="Calibri" panose="020F0502020204030204" pitchFamily="34" charset="0"/>
              </a:rPr>
              <a:t>-диаграммы</a:t>
            </a:r>
            <a:endParaRPr lang="ru-RU" b="1" dirty="0">
              <a:latin typeface="Myriad Pro" panose="020B050303040302020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6D4E325-EFD7-C460-AE0C-6CEE38EC8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29" y="1047750"/>
            <a:ext cx="8886341" cy="239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181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BD87F6-D4E0-B26B-47EC-7766779AF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617" y="782411"/>
            <a:ext cx="7352583" cy="1138773"/>
          </a:xfrm>
        </p:spPr>
        <p:txBody>
          <a:bodyPr/>
          <a:lstStyle/>
          <a:p>
            <a:r>
              <a:rPr lang="ru-RU" dirty="0">
                <a:latin typeface="Myriad Pro Black" panose="020B0803030403020204" charset="0"/>
              </a:rPr>
              <a:t>Функциональная модель IDEF0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CACAEF-FCFC-0BC8-67D2-0C893D62DEC1}"/>
              </a:ext>
            </a:extLst>
          </p:cNvPr>
          <p:cNvSpPr txBox="1"/>
          <p:nvPr/>
        </p:nvSpPr>
        <p:spPr>
          <a:xfrm>
            <a:off x="724617" y="1504950"/>
            <a:ext cx="7162800" cy="2400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ru-RU" sz="1800" dirty="0">
                <a:effectLst/>
                <a:latin typeface="Myriad Pro" panose="020B050303040302020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Функциональная модель системы определяет, что она делает, какие функции выполняет и как они связаны между собой. </a:t>
            </a:r>
          </a:p>
          <a:p>
            <a:pPr algn="just">
              <a:buNone/>
            </a:pPr>
            <a:endParaRPr lang="ru-RU" dirty="0">
              <a:latin typeface="Myriad Pro" panose="020B050303040302020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None/>
            </a:pPr>
            <a:r>
              <a:rPr lang="ru-RU" sz="1800" dirty="0">
                <a:effectLst/>
                <a:latin typeface="Myriad Pro" panose="020B0503030403020204" charset="0"/>
                <a:ea typeface="Calibri" panose="020F0502020204030204" pitchFamily="34" charset="0"/>
                <a:cs typeface="Times New Roman" panose="02020603050405020304" pitchFamily="18" charset="0"/>
              </a:rPr>
              <a:t>На основе существующих решений, проделанного анализа и сформулированных требований к проекту была разработана функциональная модель в </a:t>
            </a:r>
            <a:r>
              <a:rPr lang="ru-RU" sz="1800" b="1" dirty="0">
                <a:effectLst/>
                <a:latin typeface="Myriad Pro" panose="020B0503030403020204" charset="0"/>
                <a:ea typeface="Calibri" panose="020F0502020204030204" pitchFamily="34" charset="0"/>
                <a:cs typeface="Times New Roman" panose="02020603050405020304" pitchFamily="18" charset="0"/>
              </a:rPr>
              <a:t>методологии IDEF0</a:t>
            </a:r>
            <a:r>
              <a:rPr lang="ru-RU" sz="1800" dirty="0">
                <a:effectLst/>
                <a:latin typeface="Myriad Pro" panose="020B050303040302020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A10ADF12-ED3F-0DD5-43F7-2D0853EB6547}"/>
              </a:ext>
            </a:extLst>
          </p:cNvPr>
          <p:cNvGrpSpPr/>
          <p:nvPr/>
        </p:nvGrpSpPr>
        <p:grpSpPr>
          <a:xfrm>
            <a:off x="0" y="-5563"/>
            <a:ext cx="9144000" cy="574705"/>
            <a:chOff x="0" y="-5563"/>
            <a:chExt cx="9144000" cy="574705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852005BA-E17A-5E2E-DDD0-7B1BD245B727}"/>
                </a:ext>
              </a:extLst>
            </p:cNvPr>
            <p:cNvGrpSpPr/>
            <p:nvPr/>
          </p:nvGrpSpPr>
          <p:grpSpPr>
            <a:xfrm>
              <a:off x="0" y="-5563"/>
              <a:ext cx="9144000" cy="574705"/>
              <a:chOff x="-2931" y="-6103"/>
              <a:chExt cx="12194930" cy="867688"/>
            </a:xfrm>
          </p:grpSpPr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567BE90F-DFA0-75A3-E7AA-38FC770DE4EE}"/>
                  </a:ext>
                </a:extLst>
              </p:cNvPr>
              <p:cNvSpPr/>
              <p:nvPr/>
            </p:nvSpPr>
            <p:spPr>
              <a:xfrm>
                <a:off x="0" y="-6103"/>
                <a:ext cx="12191999" cy="867688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9" name="Полилиния 13">
                <a:extLst>
                  <a:ext uri="{FF2B5EF4-FFF2-40B4-BE49-F238E27FC236}">
                    <a16:creationId xmlns:a16="http://schemas.microsoft.com/office/drawing/2014/main" id="{DD3CC828-91C0-1CE2-7DBD-94790AEAEE31}"/>
                  </a:ext>
                </a:extLst>
              </p:cNvPr>
              <p:cNvSpPr/>
              <p:nvPr/>
            </p:nvSpPr>
            <p:spPr>
              <a:xfrm>
                <a:off x="-2931" y="-6103"/>
                <a:ext cx="8638075" cy="867685"/>
              </a:xfrm>
              <a:custGeom>
                <a:avLst/>
                <a:gdLst>
                  <a:gd name="connsiteX0" fmla="*/ 0 w 9967865"/>
                  <a:gd name="connsiteY0" fmla="*/ 0 h 679010"/>
                  <a:gd name="connsiteX1" fmla="*/ 9967865 w 9967865"/>
                  <a:gd name="connsiteY1" fmla="*/ 0 h 679010"/>
                  <a:gd name="connsiteX2" fmla="*/ 7659232 w 9967865"/>
                  <a:gd name="connsiteY2" fmla="*/ 679010 h 679010"/>
                  <a:gd name="connsiteX3" fmla="*/ 0 w 9967865"/>
                  <a:gd name="connsiteY3" fmla="*/ 679010 h 679010"/>
                  <a:gd name="connsiteX4" fmla="*/ 0 w 9967865"/>
                  <a:gd name="connsiteY4" fmla="*/ 0 h 679010"/>
                  <a:gd name="connsiteX0" fmla="*/ 0 w 9967865"/>
                  <a:gd name="connsiteY0" fmla="*/ 0 h 686788"/>
                  <a:gd name="connsiteX1" fmla="*/ 9967865 w 9967865"/>
                  <a:gd name="connsiteY1" fmla="*/ 0 h 686788"/>
                  <a:gd name="connsiteX2" fmla="*/ 9086239 w 9967865"/>
                  <a:gd name="connsiteY2" fmla="*/ 686788 h 686788"/>
                  <a:gd name="connsiteX3" fmla="*/ 0 w 9967865"/>
                  <a:gd name="connsiteY3" fmla="*/ 679010 h 686788"/>
                  <a:gd name="connsiteX4" fmla="*/ 0 w 9967865"/>
                  <a:gd name="connsiteY4" fmla="*/ 0 h 686788"/>
                  <a:gd name="connsiteX0" fmla="*/ 0 w 9967865"/>
                  <a:gd name="connsiteY0" fmla="*/ 0 h 750734"/>
                  <a:gd name="connsiteX1" fmla="*/ 9967865 w 9967865"/>
                  <a:gd name="connsiteY1" fmla="*/ 0 h 750734"/>
                  <a:gd name="connsiteX2" fmla="*/ 9086239 w 9967865"/>
                  <a:gd name="connsiteY2" fmla="*/ 686788 h 750734"/>
                  <a:gd name="connsiteX3" fmla="*/ 422409 w 9967865"/>
                  <a:gd name="connsiteY3" fmla="*/ 750734 h 750734"/>
                  <a:gd name="connsiteX4" fmla="*/ 0 w 9967865"/>
                  <a:gd name="connsiteY4" fmla="*/ 0 h 750734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86239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318564 w 9967865"/>
                  <a:gd name="connsiteY2" fmla="*/ 634624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01757 w 9967865"/>
                  <a:gd name="connsiteY2" fmla="*/ 683527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929948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774813"/>
                  <a:gd name="connsiteX1" fmla="*/ 9967865 w 9967865"/>
                  <a:gd name="connsiteY1" fmla="*/ 0 h 774813"/>
                  <a:gd name="connsiteX2" fmla="*/ 9153824 w 9967865"/>
                  <a:gd name="connsiteY2" fmla="*/ 774813 h 774813"/>
                  <a:gd name="connsiteX3" fmla="*/ 4224 w 9967865"/>
                  <a:gd name="connsiteY3" fmla="*/ 688791 h 774813"/>
                  <a:gd name="connsiteX4" fmla="*/ 0 w 9967865"/>
                  <a:gd name="connsiteY4" fmla="*/ 0 h 774813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824346 w 9967865"/>
                  <a:gd name="connsiteY2" fmla="*/ 484656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90048"/>
                  <a:gd name="connsiteX1" fmla="*/ 9967865 w 9967865"/>
                  <a:gd name="connsiteY1" fmla="*/ 0 h 690048"/>
                  <a:gd name="connsiteX2" fmla="*/ 8760984 w 9967865"/>
                  <a:gd name="connsiteY2" fmla="*/ 690048 h 690048"/>
                  <a:gd name="connsiteX3" fmla="*/ 4224 w 9967865"/>
                  <a:gd name="connsiteY3" fmla="*/ 688791 h 690048"/>
                  <a:gd name="connsiteX4" fmla="*/ 0 w 9967865"/>
                  <a:gd name="connsiteY4" fmla="*/ 0 h 690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7865" h="690048">
                    <a:moveTo>
                      <a:pt x="0" y="0"/>
                    </a:moveTo>
                    <a:lnTo>
                      <a:pt x="9967865" y="0"/>
                    </a:lnTo>
                    <a:lnTo>
                      <a:pt x="8760984" y="690048"/>
                    </a:lnTo>
                    <a:lnTo>
                      <a:pt x="4224" y="688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F1AC16F1-9187-19D9-776A-F80BE606B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800" y="91298"/>
              <a:ext cx="1211316" cy="380979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0FC20B4-B303-0211-F038-44F277875EAF}"/>
              </a:ext>
            </a:extLst>
          </p:cNvPr>
          <p:cNvSpPr txBox="1"/>
          <p:nvPr/>
        </p:nvSpPr>
        <p:spPr>
          <a:xfrm>
            <a:off x="724617" y="147583"/>
            <a:ext cx="8229600" cy="268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400" dirty="0">
                <a:solidFill>
                  <a:schemeClr val="bg1"/>
                </a:solidFill>
                <a:latin typeface="Myriad Pro Black" panose="020B0803030403020204" pitchFamily="34" charset="0"/>
              </a:rPr>
              <a:t>Системотехнический анализ и проектирование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2699385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F823111-549D-15F2-27E9-5231FADAF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285750"/>
            <a:ext cx="6286500" cy="39619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223CCC-1BCA-8648-B61A-2A34FD08491D}"/>
              </a:ext>
            </a:extLst>
          </p:cNvPr>
          <p:cNvSpPr txBox="1"/>
          <p:nvPr/>
        </p:nvSpPr>
        <p:spPr>
          <a:xfrm>
            <a:off x="609600" y="4171950"/>
            <a:ext cx="7620000" cy="45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 algn="ctr">
              <a:lnSpc>
                <a:spcPct val="150000"/>
              </a:lnSpc>
              <a:buNone/>
            </a:pPr>
            <a:r>
              <a:rPr lang="ru-RU" sz="1800" b="1" dirty="0">
                <a:effectLst/>
                <a:latin typeface="Myriad Pro" panose="020B0503030403020204" charset="0"/>
                <a:ea typeface="Calibri" panose="020F0502020204030204" pitchFamily="34" charset="0"/>
                <a:cs typeface="Times New Roman" panose="02020603050405020304" pitchFamily="18" charset="0"/>
              </a:rPr>
              <a:t>Контекстная диаграмма процесса оптимизации в нотации </a:t>
            </a:r>
            <a:r>
              <a:rPr lang="en-US" sz="1800" b="1" dirty="0">
                <a:effectLst/>
                <a:latin typeface="Myriad Pro" panose="020B0503030403020204" charset="0"/>
                <a:ea typeface="Calibri" panose="020F0502020204030204" pitchFamily="34" charset="0"/>
                <a:cs typeface="Times New Roman" panose="02020603050405020304" pitchFamily="18" charset="0"/>
              </a:rPr>
              <a:t>IDEF</a:t>
            </a:r>
            <a:r>
              <a:rPr lang="ru-RU" sz="1800" b="1" dirty="0">
                <a:effectLst/>
                <a:latin typeface="Myriad Pro" panose="020B0503030403020204" charset="0"/>
                <a:ea typeface="Calibri" panose="020F0502020204030204" pitchFamily="34" charset="0"/>
                <a:cs typeface="Times New Roman" panose="02020603050405020304" pitchFamily="18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415501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31AE35A-ECCA-EF49-F4ED-9ED6DA573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0"/>
            <a:ext cx="8839200" cy="42504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550B94-D407-FCDA-201C-4F91A90A1CA5}"/>
              </a:ext>
            </a:extLst>
          </p:cNvPr>
          <p:cNvSpPr txBox="1"/>
          <p:nvPr/>
        </p:nvSpPr>
        <p:spPr>
          <a:xfrm>
            <a:off x="1143000" y="4460041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effectLst/>
                <a:latin typeface="Myriad Pro" panose="020B0503030403020204" charset="0"/>
                <a:ea typeface="Calibri" panose="020F0502020204030204" pitchFamily="34" charset="0"/>
              </a:rPr>
              <a:t>Диаграмма первого уровня декомпозиции в нотации </a:t>
            </a:r>
            <a:r>
              <a:rPr lang="en-US" sz="1800" b="1" dirty="0">
                <a:effectLst/>
                <a:latin typeface="Myriad Pro" panose="020B0503030403020204" charset="0"/>
                <a:ea typeface="Calibri" panose="020F0502020204030204" pitchFamily="34" charset="0"/>
              </a:rPr>
              <a:t>IDEF</a:t>
            </a:r>
            <a:r>
              <a:rPr lang="ru-RU" sz="1800" b="1" dirty="0">
                <a:effectLst/>
                <a:latin typeface="Myriad Pro" panose="020B0503030403020204" charset="0"/>
                <a:ea typeface="Calibri" panose="020F0502020204030204" pitchFamily="34" charset="0"/>
              </a:rPr>
              <a:t>0</a:t>
            </a:r>
            <a:endParaRPr lang="ru-RU" b="1" dirty="0">
              <a:latin typeface="Myriad Pro" panose="020B0503030403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706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C9F2CADD-8BB4-D647-A08E-9DCCDED3FCFC}"/>
              </a:ext>
            </a:extLst>
          </p:cNvPr>
          <p:cNvGrpSpPr/>
          <p:nvPr/>
        </p:nvGrpSpPr>
        <p:grpSpPr>
          <a:xfrm>
            <a:off x="0" y="-5563"/>
            <a:ext cx="9144000" cy="574705"/>
            <a:chOff x="0" y="-5563"/>
            <a:chExt cx="9144000" cy="574705"/>
          </a:xfrm>
        </p:grpSpPr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B1FAF83C-EB00-0033-A22D-C0720B9833B2}"/>
                </a:ext>
              </a:extLst>
            </p:cNvPr>
            <p:cNvGrpSpPr/>
            <p:nvPr/>
          </p:nvGrpSpPr>
          <p:grpSpPr>
            <a:xfrm>
              <a:off x="0" y="-5563"/>
              <a:ext cx="9144000" cy="574705"/>
              <a:chOff x="-2931" y="-6103"/>
              <a:chExt cx="12194930" cy="867688"/>
            </a:xfrm>
          </p:grpSpPr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67113C1D-9E75-6A5D-B4FE-886E023B58AC}"/>
                  </a:ext>
                </a:extLst>
              </p:cNvPr>
              <p:cNvSpPr/>
              <p:nvPr/>
            </p:nvSpPr>
            <p:spPr>
              <a:xfrm>
                <a:off x="0" y="-6103"/>
                <a:ext cx="12191999" cy="867688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8" name="Полилиния 13">
                <a:extLst>
                  <a:ext uri="{FF2B5EF4-FFF2-40B4-BE49-F238E27FC236}">
                    <a16:creationId xmlns:a16="http://schemas.microsoft.com/office/drawing/2014/main" id="{5674930A-51A5-D9BB-3FEE-7199302FE199}"/>
                  </a:ext>
                </a:extLst>
              </p:cNvPr>
              <p:cNvSpPr/>
              <p:nvPr/>
            </p:nvSpPr>
            <p:spPr>
              <a:xfrm>
                <a:off x="-2931" y="-6103"/>
                <a:ext cx="8638075" cy="867685"/>
              </a:xfrm>
              <a:custGeom>
                <a:avLst/>
                <a:gdLst>
                  <a:gd name="connsiteX0" fmla="*/ 0 w 9967865"/>
                  <a:gd name="connsiteY0" fmla="*/ 0 h 679010"/>
                  <a:gd name="connsiteX1" fmla="*/ 9967865 w 9967865"/>
                  <a:gd name="connsiteY1" fmla="*/ 0 h 679010"/>
                  <a:gd name="connsiteX2" fmla="*/ 7659232 w 9967865"/>
                  <a:gd name="connsiteY2" fmla="*/ 679010 h 679010"/>
                  <a:gd name="connsiteX3" fmla="*/ 0 w 9967865"/>
                  <a:gd name="connsiteY3" fmla="*/ 679010 h 679010"/>
                  <a:gd name="connsiteX4" fmla="*/ 0 w 9967865"/>
                  <a:gd name="connsiteY4" fmla="*/ 0 h 679010"/>
                  <a:gd name="connsiteX0" fmla="*/ 0 w 9967865"/>
                  <a:gd name="connsiteY0" fmla="*/ 0 h 686788"/>
                  <a:gd name="connsiteX1" fmla="*/ 9967865 w 9967865"/>
                  <a:gd name="connsiteY1" fmla="*/ 0 h 686788"/>
                  <a:gd name="connsiteX2" fmla="*/ 9086239 w 9967865"/>
                  <a:gd name="connsiteY2" fmla="*/ 686788 h 686788"/>
                  <a:gd name="connsiteX3" fmla="*/ 0 w 9967865"/>
                  <a:gd name="connsiteY3" fmla="*/ 679010 h 686788"/>
                  <a:gd name="connsiteX4" fmla="*/ 0 w 9967865"/>
                  <a:gd name="connsiteY4" fmla="*/ 0 h 686788"/>
                  <a:gd name="connsiteX0" fmla="*/ 0 w 9967865"/>
                  <a:gd name="connsiteY0" fmla="*/ 0 h 750734"/>
                  <a:gd name="connsiteX1" fmla="*/ 9967865 w 9967865"/>
                  <a:gd name="connsiteY1" fmla="*/ 0 h 750734"/>
                  <a:gd name="connsiteX2" fmla="*/ 9086239 w 9967865"/>
                  <a:gd name="connsiteY2" fmla="*/ 686788 h 750734"/>
                  <a:gd name="connsiteX3" fmla="*/ 422409 w 9967865"/>
                  <a:gd name="connsiteY3" fmla="*/ 750734 h 750734"/>
                  <a:gd name="connsiteX4" fmla="*/ 0 w 9967865"/>
                  <a:gd name="connsiteY4" fmla="*/ 0 h 750734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86239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318564 w 9967865"/>
                  <a:gd name="connsiteY2" fmla="*/ 634624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01757 w 9967865"/>
                  <a:gd name="connsiteY2" fmla="*/ 683527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929948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774813"/>
                  <a:gd name="connsiteX1" fmla="*/ 9967865 w 9967865"/>
                  <a:gd name="connsiteY1" fmla="*/ 0 h 774813"/>
                  <a:gd name="connsiteX2" fmla="*/ 9153824 w 9967865"/>
                  <a:gd name="connsiteY2" fmla="*/ 774813 h 774813"/>
                  <a:gd name="connsiteX3" fmla="*/ 4224 w 9967865"/>
                  <a:gd name="connsiteY3" fmla="*/ 688791 h 774813"/>
                  <a:gd name="connsiteX4" fmla="*/ 0 w 9967865"/>
                  <a:gd name="connsiteY4" fmla="*/ 0 h 774813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824346 w 9967865"/>
                  <a:gd name="connsiteY2" fmla="*/ 484656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90048"/>
                  <a:gd name="connsiteX1" fmla="*/ 9967865 w 9967865"/>
                  <a:gd name="connsiteY1" fmla="*/ 0 h 690048"/>
                  <a:gd name="connsiteX2" fmla="*/ 8760984 w 9967865"/>
                  <a:gd name="connsiteY2" fmla="*/ 690048 h 690048"/>
                  <a:gd name="connsiteX3" fmla="*/ 4224 w 9967865"/>
                  <a:gd name="connsiteY3" fmla="*/ 688791 h 690048"/>
                  <a:gd name="connsiteX4" fmla="*/ 0 w 9967865"/>
                  <a:gd name="connsiteY4" fmla="*/ 0 h 690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7865" h="690048">
                    <a:moveTo>
                      <a:pt x="0" y="0"/>
                    </a:moveTo>
                    <a:lnTo>
                      <a:pt x="9967865" y="0"/>
                    </a:lnTo>
                    <a:lnTo>
                      <a:pt x="8760984" y="690048"/>
                    </a:lnTo>
                    <a:lnTo>
                      <a:pt x="4224" y="688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C13B59AF-9C15-F251-1C0C-B245D7B6A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800" y="91298"/>
              <a:ext cx="1211316" cy="38097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9DEFAC1-8CF3-78E7-7275-9975631B382D}"/>
              </a:ext>
            </a:extLst>
          </p:cNvPr>
          <p:cNvSpPr txBox="1"/>
          <p:nvPr/>
        </p:nvSpPr>
        <p:spPr>
          <a:xfrm>
            <a:off x="724617" y="147583"/>
            <a:ext cx="8229600" cy="268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400" dirty="0">
                <a:solidFill>
                  <a:schemeClr val="bg1"/>
                </a:solidFill>
                <a:latin typeface="Myriad Pro Black" panose="020B0803030403020204" pitchFamily="34" charset="0"/>
              </a:rPr>
              <a:t>Системотехнический анализ и проектирование</a:t>
            </a:r>
          </a:p>
        </p:txBody>
      </p:sp>
      <p:sp>
        <p:nvSpPr>
          <p:cNvPr id="11" name="Заголовок 10">
            <a:extLst>
              <a:ext uri="{FF2B5EF4-FFF2-40B4-BE49-F238E27FC236}">
                <a16:creationId xmlns:a16="http://schemas.microsoft.com/office/drawing/2014/main" id="{D2792699-05CD-6479-39A4-E3025575E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9337" y="819150"/>
            <a:ext cx="8534400" cy="553998"/>
          </a:xfrm>
        </p:spPr>
        <p:txBody>
          <a:bodyPr/>
          <a:lstStyle/>
          <a:p>
            <a:r>
              <a:rPr lang="ru-RU" sz="3200" b="1" dirty="0">
                <a:latin typeface="Myriad Pro Black" panose="020B0803030403020204" charset="0"/>
              </a:rPr>
              <a:t>Обобщённый</a:t>
            </a:r>
            <a:r>
              <a:rPr lang="ru-RU" sz="3600" b="1" dirty="0">
                <a:latin typeface="Myriad Pro Black" panose="020B0803030403020204" charset="0"/>
              </a:rPr>
              <a:t> алгоритм работы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FFAA3F1-0FB4-75D0-A8A9-13CFDABE2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504950"/>
            <a:ext cx="6486525" cy="311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070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2B2E4340-022F-9FE4-827C-89B9D9C286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86000" y="4328160"/>
            <a:ext cx="7391400" cy="430887"/>
          </a:xfrm>
        </p:spPr>
        <p:txBody>
          <a:bodyPr/>
          <a:lstStyle/>
          <a:p>
            <a:r>
              <a:rPr lang="ru-RU" sz="2800" dirty="0">
                <a:latin typeface="Myriad Pro Black" panose="020B0803030403020204" charset="0"/>
              </a:rPr>
              <a:t>Алгоритм функционирования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EE46EA0-86F1-12FE-AED4-54CBC60EF6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040" y="167640"/>
            <a:ext cx="630936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952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F4CC6D-2A91-03D6-CEC7-C60694B19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764154"/>
            <a:ext cx="6252600" cy="492443"/>
          </a:xfrm>
        </p:spPr>
        <p:txBody>
          <a:bodyPr/>
          <a:lstStyle/>
          <a:p>
            <a:r>
              <a:rPr lang="ru-RU" sz="3200" dirty="0">
                <a:latin typeface="Myriad Pro Black" panose="020B0803030403020204" charset="0"/>
              </a:rPr>
              <a:t>Архитектура системы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AA3DCA-BC45-0F6A-F934-D00979FCA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451609"/>
            <a:ext cx="5868243" cy="2893100"/>
          </a:xfrm>
        </p:spPr>
        <p:txBody>
          <a:bodyPr/>
          <a:lstStyle/>
          <a:p>
            <a:pPr lvl="0"/>
            <a:r>
              <a:rPr lang="ru-RU" sz="1700" dirty="0">
                <a:latin typeface="Myriad Pro" panose="020B0503030403020204" charset="0"/>
              </a:rPr>
              <a:t>1) Представление: </a:t>
            </a:r>
            <a:r>
              <a:rPr lang="ru-RU" sz="1700" b="0" dirty="0">
                <a:latin typeface="Myriad Pro" panose="020B0503030403020204" charset="0"/>
              </a:rPr>
              <a:t>интерфейс пользователя. Отображение экранных форм и информации. Отрисовка диаграммы;</a:t>
            </a:r>
          </a:p>
          <a:p>
            <a:pPr lvl="0"/>
            <a:endParaRPr lang="ru-RU" sz="1700" dirty="0">
              <a:latin typeface="Myriad Pro" panose="020B0503030403020204" charset="0"/>
            </a:endParaRPr>
          </a:p>
          <a:p>
            <a:pPr lvl="0"/>
            <a:r>
              <a:rPr lang="ru-RU" sz="1700" dirty="0">
                <a:latin typeface="Myriad Pro" panose="020B0503030403020204" charset="0"/>
              </a:rPr>
              <a:t>2) Логика</a:t>
            </a:r>
            <a:r>
              <a:rPr lang="ru-RU" sz="1700" b="0" dirty="0">
                <a:latin typeface="Myriad Pro" panose="020B0503030403020204" charset="0"/>
              </a:rPr>
              <a:t>: управление жизненным циклом программы, связь между слоями. Работа со структурами входных и выходных данных, а также математическими объектами </a:t>
            </a:r>
            <a:r>
              <a:rPr lang="en-US" sz="1700" b="0" dirty="0">
                <a:latin typeface="Myriad Pro" panose="020B0503030403020204" charset="0"/>
              </a:rPr>
              <a:t>API</a:t>
            </a:r>
            <a:r>
              <a:rPr lang="ru-RU" sz="1700" b="0" dirty="0">
                <a:latin typeface="Myriad Pro" panose="020B0503030403020204" charset="0"/>
              </a:rPr>
              <a:t>;</a:t>
            </a:r>
          </a:p>
          <a:p>
            <a:pPr lvl="0"/>
            <a:endParaRPr lang="ru-RU" sz="1700" dirty="0">
              <a:latin typeface="Myriad Pro" panose="020B0503030403020204" charset="0"/>
            </a:endParaRPr>
          </a:p>
          <a:p>
            <a:pPr lvl="0"/>
            <a:r>
              <a:rPr lang="ru-RU" sz="1700" dirty="0">
                <a:latin typeface="Myriad Pro" panose="020B0503030403020204" charset="0"/>
              </a:rPr>
              <a:t>3) Данные: </a:t>
            </a:r>
            <a:r>
              <a:rPr lang="ru-RU" sz="1700" b="0" dirty="0">
                <a:latin typeface="Myriad Pro" panose="020B0503030403020204" charset="0"/>
              </a:rPr>
              <a:t>вычислительный модуль, основан на CPLEX. Принимает объект модели и выполняет математические расчёты. Возвращает результаты оптимизации.</a:t>
            </a:r>
          </a:p>
          <a:p>
            <a:endParaRPr lang="ru-RU" sz="1800" b="0" dirty="0">
              <a:latin typeface="Myriad Pro" panose="020B050303040302020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61E5DE-7564-D5E4-4432-9F906ADC5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895" y="968535"/>
            <a:ext cx="2105461" cy="3206429"/>
          </a:xfrm>
          <a:prstGeom prst="rect">
            <a:avLst/>
          </a:prstGeom>
        </p:spPr>
      </p:pic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4A347707-3D10-5F1F-D96F-A2FCBEF79DC4}"/>
              </a:ext>
            </a:extLst>
          </p:cNvPr>
          <p:cNvGrpSpPr/>
          <p:nvPr/>
        </p:nvGrpSpPr>
        <p:grpSpPr>
          <a:xfrm>
            <a:off x="0" y="-5563"/>
            <a:ext cx="9144000" cy="574705"/>
            <a:chOff x="0" y="-5563"/>
            <a:chExt cx="9144000" cy="574705"/>
          </a:xfrm>
        </p:grpSpPr>
        <p:grpSp>
          <p:nvGrpSpPr>
            <p:cNvPr id="7" name="Группа 6">
              <a:extLst>
                <a:ext uri="{FF2B5EF4-FFF2-40B4-BE49-F238E27FC236}">
                  <a16:creationId xmlns:a16="http://schemas.microsoft.com/office/drawing/2014/main" id="{F1EF1BCD-2F4F-54F9-F180-AC8A6CC2204E}"/>
                </a:ext>
              </a:extLst>
            </p:cNvPr>
            <p:cNvGrpSpPr/>
            <p:nvPr/>
          </p:nvGrpSpPr>
          <p:grpSpPr>
            <a:xfrm>
              <a:off x="0" y="-5563"/>
              <a:ext cx="9144000" cy="574705"/>
              <a:chOff x="-2931" y="-6103"/>
              <a:chExt cx="12194930" cy="867688"/>
            </a:xfrm>
          </p:grpSpPr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B0567BB9-EAB2-0FC8-1195-A484F13FB27F}"/>
                  </a:ext>
                </a:extLst>
              </p:cNvPr>
              <p:cNvSpPr/>
              <p:nvPr/>
            </p:nvSpPr>
            <p:spPr>
              <a:xfrm>
                <a:off x="0" y="-6103"/>
                <a:ext cx="12191999" cy="867688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0" name="Полилиния 13">
                <a:extLst>
                  <a:ext uri="{FF2B5EF4-FFF2-40B4-BE49-F238E27FC236}">
                    <a16:creationId xmlns:a16="http://schemas.microsoft.com/office/drawing/2014/main" id="{38ED77F5-5116-B7A3-AE59-2621488CADFF}"/>
                  </a:ext>
                </a:extLst>
              </p:cNvPr>
              <p:cNvSpPr/>
              <p:nvPr/>
            </p:nvSpPr>
            <p:spPr>
              <a:xfrm>
                <a:off x="-2931" y="-6103"/>
                <a:ext cx="8638075" cy="867685"/>
              </a:xfrm>
              <a:custGeom>
                <a:avLst/>
                <a:gdLst>
                  <a:gd name="connsiteX0" fmla="*/ 0 w 9967865"/>
                  <a:gd name="connsiteY0" fmla="*/ 0 h 679010"/>
                  <a:gd name="connsiteX1" fmla="*/ 9967865 w 9967865"/>
                  <a:gd name="connsiteY1" fmla="*/ 0 h 679010"/>
                  <a:gd name="connsiteX2" fmla="*/ 7659232 w 9967865"/>
                  <a:gd name="connsiteY2" fmla="*/ 679010 h 679010"/>
                  <a:gd name="connsiteX3" fmla="*/ 0 w 9967865"/>
                  <a:gd name="connsiteY3" fmla="*/ 679010 h 679010"/>
                  <a:gd name="connsiteX4" fmla="*/ 0 w 9967865"/>
                  <a:gd name="connsiteY4" fmla="*/ 0 h 679010"/>
                  <a:gd name="connsiteX0" fmla="*/ 0 w 9967865"/>
                  <a:gd name="connsiteY0" fmla="*/ 0 h 686788"/>
                  <a:gd name="connsiteX1" fmla="*/ 9967865 w 9967865"/>
                  <a:gd name="connsiteY1" fmla="*/ 0 h 686788"/>
                  <a:gd name="connsiteX2" fmla="*/ 9086239 w 9967865"/>
                  <a:gd name="connsiteY2" fmla="*/ 686788 h 686788"/>
                  <a:gd name="connsiteX3" fmla="*/ 0 w 9967865"/>
                  <a:gd name="connsiteY3" fmla="*/ 679010 h 686788"/>
                  <a:gd name="connsiteX4" fmla="*/ 0 w 9967865"/>
                  <a:gd name="connsiteY4" fmla="*/ 0 h 686788"/>
                  <a:gd name="connsiteX0" fmla="*/ 0 w 9967865"/>
                  <a:gd name="connsiteY0" fmla="*/ 0 h 750734"/>
                  <a:gd name="connsiteX1" fmla="*/ 9967865 w 9967865"/>
                  <a:gd name="connsiteY1" fmla="*/ 0 h 750734"/>
                  <a:gd name="connsiteX2" fmla="*/ 9086239 w 9967865"/>
                  <a:gd name="connsiteY2" fmla="*/ 686788 h 750734"/>
                  <a:gd name="connsiteX3" fmla="*/ 422409 w 9967865"/>
                  <a:gd name="connsiteY3" fmla="*/ 750734 h 750734"/>
                  <a:gd name="connsiteX4" fmla="*/ 0 w 9967865"/>
                  <a:gd name="connsiteY4" fmla="*/ 0 h 750734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86239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318564 w 9967865"/>
                  <a:gd name="connsiteY2" fmla="*/ 634624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01757 w 9967865"/>
                  <a:gd name="connsiteY2" fmla="*/ 683527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929948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774813"/>
                  <a:gd name="connsiteX1" fmla="*/ 9967865 w 9967865"/>
                  <a:gd name="connsiteY1" fmla="*/ 0 h 774813"/>
                  <a:gd name="connsiteX2" fmla="*/ 9153824 w 9967865"/>
                  <a:gd name="connsiteY2" fmla="*/ 774813 h 774813"/>
                  <a:gd name="connsiteX3" fmla="*/ 4224 w 9967865"/>
                  <a:gd name="connsiteY3" fmla="*/ 688791 h 774813"/>
                  <a:gd name="connsiteX4" fmla="*/ 0 w 9967865"/>
                  <a:gd name="connsiteY4" fmla="*/ 0 h 774813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824346 w 9967865"/>
                  <a:gd name="connsiteY2" fmla="*/ 484656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90048"/>
                  <a:gd name="connsiteX1" fmla="*/ 9967865 w 9967865"/>
                  <a:gd name="connsiteY1" fmla="*/ 0 h 690048"/>
                  <a:gd name="connsiteX2" fmla="*/ 8760984 w 9967865"/>
                  <a:gd name="connsiteY2" fmla="*/ 690048 h 690048"/>
                  <a:gd name="connsiteX3" fmla="*/ 4224 w 9967865"/>
                  <a:gd name="connsiteY3" fmla="*/ 688791 h 690048"/>
                  <a:gd name="connsiteX4" fmla="*/ 0 w 9967865"/>
                  <a:gd name="connsiteY4" fmla="*/ 0 h 690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7865" h="690048">
                    <a:moveTo>
                      <a:pt x="0" y="0"/>
                    </a:moveTo>
                    <a:lnTo>
                      <a:pt x="9967865" y="0"/>
                    </a:lnTo>
                    <a:lnTo>
                      <a:pt x="8760984" y="690048"/>
                    </a:lnTo>
                    <a:lnTo>
                      <a:pt x="4224" y="688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578D5C0F-F9FB-0642-2795-8B69D1BA8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800" y="91298"/>
              <a:ext cx="1211316" cy="38097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F8B4ED8-0826-7FAF-8038-8FEA45398A51}"/>
              </a:ext>
            </a:extLst>
          </p:cNvPr>
          <p:cNvSpPr txBox="1"/>
          <p:nvPr/>
        </p:nvSpPr>
        <p:spPr>
          <a:xfrm>
            <a:off x="724617" y="147583"/>
            <a:ext cx="8229600" cy="268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400" dirty="0">
                <a:solidFill>
                  <a:schemeClr val="bg1"/>
                </a:solidFill>
                <a:latin typeface="Myriad Pro Black" panose="020B0803030403020204" pitchFamily="34" charset="0"/>
              </a:rPr>
              <a:t>Системотехнический анализ и проектирование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1317744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6AD90AA-CE59-D609-9AE3-AFF8266ED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09951"/>
            <a:ext cx="5486400" cy="51511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247309-03EC-32AE-0838-9E12E566B5AB}"/>
              </a:ext>
            </a:extLst>
          </p:cNvPr>
          <p:cNvSpPr txBox="1"/>
          <p:nvPr/>
        </p:nvSpPr>
        <p:spPr>
          <a:xfrm>
            <a:off x="5638800" y="209951"/>
            <a:ext cx="34290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yriad Pro Black" panose="020B0803030403020204" charset="0"/>
              </a:rPr>
              <a:t>Алгоритм работы системы с учётом уровней архитектуры</a:t>
            </a:r>
            <a:endParaRPr lang="en-US" sz="2400" b="1" dirty="0">
              <a:latin typeface="Myriad Pro Black" panose="020B0803030403020204" charset="0"/>
            </a:endParaRPr>
          </a:p>
          <a:p>
            <a:endParaRPr lang="en-US" sz="2000" b="1" dirty="0"/>
          </a:p>
          <a:p>
            <a:r>
              <a:rPr lang="ru-RU" dirty="0">
                <a:latin typeface="Myriad Pro" panose="020B0503030403020204" charset="0"/>
              </a:rPr>
              <a:t>Диаграмма последовательности </a:t>
            </a:r>
            <a:r>
              <a:rPr lang="en-US" dirty="0">
                <a:latin typeface="Myriad Pro" panose="020B0503030403020204" charset="0"/>
              </a:rPr>
              <a:t>UML</a:t>
            </a:r>
            <a:endParaRPr lang="ru-RU" dirty="0">
              <a:latin typeface="Myriad Pro" panose="020B0503030403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449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071DC37-19A0-B2F7-3A6C-0ABBFB528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828924"/>
            <a:ext cx="6742983" cy="492443"/>
          </a:xfrm>
        </p:spPr>
        <p:txBody>
          <a:bodyPr/>
          <a:lstStyle/>
          <a:p>
            <a:r>
              <a:rPr lang="ru-RU" sz="3200" dirty="0">
                <a:latin typeface="Myriad Pro Black" panose="020B0803030403020204" charset="0"/>
              </a:rPr>
              <a:t>Структура входных данных</a:t>
            </a: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96058866-FF40-D36F-1961-5A0E8CD745C0}"/>
              </a:ext>
            </a:extLst>
          </p:cNvPr>
          <p:cNvGrpSpPr/>
          <p:nvPr/>
        </p:nvGrpSpPr>
        <p:grpSpPr>
          <a:xfrm>
            <a:off x="0" y="-5563"/>
            <a:ext cx="9144000" cy="574705"/>
            <a:chOff x="0" y="-5563"/>
            <a:chExt cx="9144000" cy="574705"/>
          </a:xfrm>
        </p:grpSpPr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A4D52366-337F-1330-53FB-02A538A3F9AE}"/>
                </a:ext>
              </a:extLst>
            </p:cNvPr>
            <p:cNvGrpSpPr/>
            <p:nvPr/>
          </p:nvGrpSpPr>
          <p:grpSpPr>
            <a:xfrm>
              <a:off x="0" y="-5563"/>
              <a:ext cx="9144000" cy="574705"/>
              <a:chOff x="-2931" y="-6103"/>
              <a:chExt cx="12194930" cy="867688"/>
            </a:xfrm>
          </p:grpSpPr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E69D457C-85AE-69CB-49C2-D3A4D0098550}"/>
                  </a:ext>
                </a:extLst>
              </p:cNvPr>
              <p:cNvSpPr/>
              <p:nvPr/>
            </p:nvSpPr>
            <p:spPr>
              <a:xfrm>
                <a:off x="0" y="-6103"/>
                <a:ext cx="12191999" cy="867688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8" name="Полилиния 13">
                <a:extLst>
                  <a:ext uri="{FF2B5EF4-FFF2-40B4-BE49-F238E27FC236}">
                    <a16:creationId xmlns:a16="http://schemas.microsoft.com/office/drawing/2014/main" id="{C9668713-1D85-27C9-E243-8608C6716D09}"/>
                  </a:ext>
                </a:extLst>
              </p:cNvPr>
              <p:cNvSpPr/>
              <p:nvPr/>
            </p:nvSpPr>
            <p:spPr>
              <a:xfrm>
                <a:off x="-2931" y="-6103"/>
                <a:ext cx="8638075" cy="867685"/>
              </a:xfrm>
              <a:custGeom>
                <a:avLst/>
                <a:gdLst>
                  <a:gd name="connsiteX0" fmla="*/ 0 w 9967865"/>
                  <a:gd name="connsiteY0" fmla="*/ 0 h 679010"/>
                  <a:gd name="connsiteX1" fmla="*/ 9967865 w 9967865"/>
                  <a:gd name="connsiteY1" fmla="*/ 0 h 679010"/>
                  <a:gd name="connsiteX2" fmla="*/ 7659232 w 9967865"/>
                  <a:gd name="connsiteY2" fmla="*/ 679010 h 679010"/>
                  <a:gd name="connsiteX3" fmla="*/ 0 w 9967865"/>
                  <a:gd name="connsiteY3" fmla="*/ 679010 h 679010"/>
                  <a:gd name="connsiteX4" fmla="*/ 0 w 9967865"/>
                  <a:gd name="connsiteY4" fmla="*/ 0 h 679010"/>
                  <a:gd name="connsiteX0" fmla="*/ 0 w 9967865"/>
                  <a:gd name="connsiteY0" fmla="*/ 0 h 686788"/>
                  <a:gd name="connsiteX1" fmla="*/ 9967865 w 9967865"/>
                  <a:gd name="connsiteY1" fmla="*/ 0 h 686788"/>
                  <a:gd name="connsiteX2" fmla="*/ 9086239 w 9967865"/>
                  <a:gd name="connsiteY2" fmla="*/ 686788 h 686788"/>
                  <a:gd name="connsiteX3" fmla="*/ 0 w 9967865"/>
                  <a:gd name="connsiteY3" fmla="*/ 679010 h 686788"/>
                  <a:gd name="connsiteX4" fmla="*/ 0 w 9967865"/>
                  <a:gd name="connsiteY4" fmla="*/ 0 h 686788"/>
                  <a:gd name="connsiteX0" fmla="*/ 0 w 9967865"/>
                  <a:gd name="connsiteY0" fmla="*/ 0 h 750734"/>
                  <a:gd name="connsiteX1" fmla="*/ 9967865 w 9967865"/>
                  <a:gd name="connsiteY1" fmla="*/ 0 h 750734"/>
                  <a:gd name="connsiteX2" fmla="*/ 9086239 w 9967865"/>
                  <a:gd name="connsiteY2" fmla="*/ 686788 h 750734"/>
                  <a:gd name="connsiteX3" fmla="*/ 422409 w 9967865"/>
                  <a:gd name="connsiteY3" fmla="*/ 750734 h 750734"/>
                  <a:gd name="connsiteX4" fmla="*/ 0 w 9967865"/>
                  <a:gd name="connsiteY4" fmla="*/ 0 h 750734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86239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318564 w 9967865"/>
                  <a:gd name="connsiteY2" fmla="*/ 634624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01757 w 9967865"/>
                  <a:gd name="connsiteY2" fmla="*/ 683527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929948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774813"/>
                  <a:gd name="connsiteX1" fmla="*/ 9967865 w 9967865"/>
                  <a:gd name="connsiteY1" fmla="*/ 0 h 774813"/>
                  <a:gd name="connsiteX2" fmla="*/ 9153824 w 9967865"/>
                  <a:gd name="connsiteY2" fmla="*/ 774813 h 774813"/>
                  <a:gd name="connsiteX3" fmla="*/ 4224 w 9967865"/>
                  <a:gd name="connsiteY3" fmla="*/ 688791 h 774813"/>
                  <a:gd name="connsiteX4" fmla="*/ 0 w 9967865"/>
                  <a:gd name="connsiteY4" fmla="*/ 0 h 774813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824346 w 9967865"/>
                  <a:gd name="connsiteY2" fmla="*/ 484656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90048"/>
                  <a:gd name="connsiteX1" fmla="*/ 9967865 w 9967865"/>
                  <a:gd name="connsiteY1" fmla="*/ 0 h 690048"/>
                  <a:gd name="connsiteX2" fmla="*/ 8760984 w 9967865"/>
                  <a:gd name="connsiteY2" fmla="*/ 690048 h 690048"/>
                  <a:gd name="connsiteX3" fmla="*/ 4224 w 9967865"/>
                  <a:gd name="connsiteY3" fmla="*/ 688791 h 690048"/>
                  <a:gd name="connsiteX4" fmla="*/ 0 w 9967865"/>
                  <a:gd name="connsiteY4" fmla="*/ 0 h 690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7865" h="690048">
                    <a:moveTo>
                      <a:pt x="0" y="0"/>
                    </a:moveTo>
                    <a:lnTo>
                      <a:pt x="9967865" y="0"/>
                    </a:lnTo>
                    <a:lnTo>
                      <a:pt x="8760984" y="690048"/>
                    </a:lnTo>
                    <a:lnTo>
                      <a:pt x="4224" y="688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8D59E92B-3392-F9CB-D3D7-7B5849F6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800" y="91298"/>
              <a:ext cx="1211316" cy="38097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3CB34BE-4B0E-C452-C127-4E6EA9E85F68}"/>
              </a:ext>
            </a:extLst>
          </p:cNvPr>
          <p:cNvSpPr txBox="1"/>
          <p:nvPr/>
        </p:nvSpPr>
        <p:spPr>
          <a:xfrm>
            <a:off x="724617" y="147583"/>
            <a:ext cx="8229600" cy="268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400" dirty="0">
                <a:solidFill>
                  <a:schemeClr val="bg1"/>
                </a:solidFill>
                <a:latin typeface="Myriad Pro Black" panose="020B0803030403020204" pitchFamily="34" charset="0"/>
              </a:rPr>
              <a:t>Системотехнический анализ и проектирование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A9183F9-3B62-0183-0C08-94B111928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30" y="1504950"/>
            <a:ext cx="5080130" cy="3276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2865A07-45A4-C5F5-7FDE-11E1E9BACB29}"/>
              </a:ext>
            </a:extLst>
          </p:cNvPr>
          <p:cNvSpPr txBox="1"/>
          <p:nvPr/>
        </p:nvSpPr>
        <p:spPr>
          <a:xfrm>
            <a:off x="5767714" y="1491863"/>
            <a:ext cx="31865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Сколько приборов в конвейере?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Сколько задач нужно выполнить и к скольки типам они принадлежат?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Как часто и как долго нужно проводить ПТО?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Сколько длится переналадка приборов с одного типа заданий на второй?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9827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CC3CE6-817A-A4BE-1B8F-67F4CDFDD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2142" y="1181350"/>
            <a:ext cx="4579620" cy="492443"/>
          </a:xfrm>
        </p:spPr>
        <p:txBody>
          <a:bodyPr/>
          <a:lstStyle/>
          <a:p>
            <a:r>
              <a:rPr lang="ru-RU" sz="3200" dirty="0">
                <a:latin typeface="Myriad Pro" panose="020B0503030403020204" charset="0"/>
              </a:rPr>
              <a:t>Критерий оптимизации</a:t>
            </a:r>
          </a:p>
        </p:txBody>
      </p: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46E50619-D66D-09A9-030C-EE940CCC8C1A}"/>
              </a:ext>
            </a:extLst>
          </p:cNvPr>
          <p:cNvCxnSpPr>
            <a:cxnSpLocks/>
          </p:cNvCxnSpPr>
          <p:nvPr/>
        </p:nvCxnSpPr>
        <p:spPr>
          <a:xfrm flipH="1">
            <a:off x="2514600" y="1727835"/>
            <a:ext cx="1066800" cy="5302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A0624C59-3E61-5EDC-5A76-B971F383C0CE}"/>
              </a:ext>
            </a:extLst>
          </p:cNvPr>
          <p:cNvGrpSpPr/>
          <p:nvPr/>
        </p:nvGrpSpPr>
        <p:grpSpPr>
          <a:xfrm>
            <a:off x="0" y="-5563"/>
            <a:ext cx="9144000" cy="574705"/>
            <a:chOff x="0" y="-5563"/>
            <a:chExt cx="9144000" cy="574705"/>
          </a:xfrm>
        </p:grpSpPr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1CD76051-01B0-61FC-2E8E-B45504964F6F}"/>
                </a:ext>
              </a:extLst>
            </p:cNvPr>
            <p:cNvGrpSpPr/>
            <p:nvPr/>
          </p:nvGrpSpPr>
          <p:grpSpPr>
            <a:xfrm>
              <a:off x="0" y="-5563"/>
              <a:ext cx="9144000" cy="574705"/>
              <a:chOff x="-2931" y="-6103"/>
              <a:chExt cx="12194930" cy="867688"/>
            </a:xfrm>
          </p:grpSpPr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135D9F56-46FE-62C4-25B3-0D0CB2B984CC}"/>
                  </a:ext>
                </a:extLst>
              </p:cNvPr>
              <p:cNvSpPr/>
              <p:nvPr/>
            </p:nvSpPr>
            <p:spPr>
              <a:xfrm>
                <a:off x="0" y="-6103"/>
                <a:ext cx="12191999" cy="867688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2" name="Полилиния 13">
                <a:extLst>
                  <a:ext uri="{FF2B5EF4-FFF2-40B4-BE49-F238E27FC236}">
                    <a16:creationId xmlns:a16="http://schemas.microsoft.com/office/drawing/2014/main" id="{78F4C937-5E0A-5EE1-0C42-8C91042D50FE}"/>
                  </a:ext>
                </a:extLst>
              </p:cNvPr>
              <p:cNvSpPr/>
              <p:nvPr/>
            </p:nvSpPr>
            <p:spPr>
              <a:xfrm>
                <a:off x="-2931" y="-6103"/>
                <a:ext cx="8638075" cy="867685"/>
              </a:xfrm>
              <a:custGeom>
                <a:avLst/>
                <a:gdLst>
                  <a:gd name="connsiteX0" fmla="*/ 0 w 9967865"/>
                  <a:gd name="connsiteY0" fmla="*/ 0 h 679010"/>
                  <a:gd name="connsiteX1" fmla="*/ 9967865 w 9967865"/>
                  <a:gd name="connsiteY1" fmla="*/ 0 h 679010"/>
                  <a:gd name="connsiteX2" fmla="*/ 7659232 w 9967865"/>
                  <a:gd name="connsiteY2" fmla="*/ 679010 h 679010"/>
                  <a:gd name="connsiteX3" fmla="*/ 0 w 9967865"/>
                  <a:gd name="connsiteY3" fmla="*/ 679010 h 679010"/>
                  <a:gd name="connsiteX4" fmla="*/ 0 w 9967865"/>
                  <a:gd name="connsiteY4" fmla="*/ 0 h 679010"/>
                  <a:gd name="connsiteX0" fmla="*/ 0 w 9967865"/>
                  <a:gd name="connsiteY0" fmla="*/ 0 h 686788"/>
                  <a:gd name="connsiteX1" fmla="*/ 9967865 w 9967865"/>
                  <a:gd name="connsiteY1" fmla="*/ 0 h 686788"/>
                  <a:gd name="connsiteX2" fmla="*/ 9086239 w 9967865"/>
                  <a:gd name="connsiteY2" fmla="*/ 686788 h 686788"/>
                  <a:gd name="connsiteX3" fmla="*/ 0 w 9967865"/>
                  <a:gd name="connsiteY3" fmla="*/ 679010 h 686788"/>
                  <a:gd name="connsiteX4" fmla="*/ 0 w 9967865"/>
                  <a:gd name="connsiteY4" fmla="*/ 0 h 686788"/>
                  <a:gd name="connsiteX0" fmla="*/ 0 w 9967865"/>
                  <a:gd name="connsiteY0" fmla="*/ 0 h 750734"/>
                  <a:gd name="connsiteX1" fmla="*/ 9967865 w 9967865"/>
                  <a:gd name="connsiteY1" fmla="*/ 0 h 750734"/>
                  <a:gd name="connsiteX2" fmla="*/ 9086239 w 9967865"/>
                  <a:gd name="connsiteY2" fmla="*/ 686788 h 750734"/>
                  <a:gd name="connsiteX3" fmla="*/ 422409 w 9967865"/>
                  <a:gd name="connsiteY3" fmla="*/ 750734 h 750734"/>
                  <a:gd name="connsiteX4" fmla="*/ 0 w 9967865"/>
                  <a:gd name="connsiteY4" fmla="*/ 0 h 750734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86239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318564 w 9967865"/>
                  <a:gd name="connsiteY2" fmla="*/ 634624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01757 w 9967865"/>
                  <a:gd name="connsiteY2" fmla="*/ 683527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929948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774813"/>
                  <a:gd name="connsiteX1" fmla="*/ 9967865 w 9967865"/>
                  <a:gd name="connsiteY1" fmla="*/ 0 h 774813"/>
                  <a:gd name="connsiteX2" fmla="*/ 9153824 w 9967865"/>
                  <a:gd name="connsiteY2" fmla="*/ 774813 h 774813"/>
                  <a:gd name="connsiteX3" fmla="*/ 4224 w 9967865"/>
                  <a:gd name="connsiteY3" fmla="*/ 688791 h 774813"/>
                  <a:gd name="connsiteX4" fmla="*/ 0 w 9967865"/>
                  <a:gd name="connsiteY4" fmla="*/ 0 h 774813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824346 w 9967865"/>
                  <a:gd name="connsiteY2" fmla="*/ 484656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90048"/>
                  <a:gd name="connsiteX1" fmla="*/ 9967865 w 9967865"/>
                  <a:gd name="connsiteY1" fmla="*/ 0 h 690048"/>
                  <a:gd name="connsiteX2" fmla="*/ 8760984 w 9967865"/>
                  <a:gd name="connsiteY2" fmla="*/ 690048 h 690048"/>
                  <a:gd name="connsiteX3" fmla="*/ 4224 w 9967865"/>
                  <a:gd name="connsiteY3" fmla="*/ 688791 h 690048"/>
                  <a:gd name="connsiteX4" fmla="*/ 0 w 9967865"/>
                  <a:gd name="connsiteY4" fmla="*/ 0 h 690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7865" h="690048">
                    <a:moveTo>
                      <a:pt x="0" y="0"/>
                    </a:moveTo>
                    <a:lnTo>
                      <a:pt x="9967865" y="0"/>
                    </a:lnTo>
                    <a:lnTo>
                      <a:pt x="8760984" y="690048"/>
                    </a:lnTo>
                    <a:lnTo>
                      <a:pt x="4224" y="688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2D79C2DC-19FA-68B9-2435-83CCDE263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800" y="91298"/>
              <a:ext cx="1211316" cy="380979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E1FBE8F-94AC-12CC-8EDA-92F65DC09A92}"/>
              </a:ext>
            </a:extLst>
          </p:cNvPr>
          <p:cNvSpPr txBox="1"/>
          <p:nvPr/>
        </p:nvSpPr>
        <p:spPr>
          <a:xfrm>
            <a:off x="724617" y="147583"/>
            <a:ext cx="8229600" cy="268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400" dirty="0">
                <a:solidFill>
                  <a:schemeClr val="bg1"/>
                </a:solidFill>
                <a:latin typeface="Myriad Pro Black" panose="020B0803030403020204" pitchFamily="34" charset="0"/>
              </a:rPr>
              <a:t>Системотехнический анализ и проектирование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Заголовок 1">
                <a:extLst>
                  <a:ext uri="{FF2B5EF4-FFF2-40B4-BE49-F238E27FC236}">
                    <a16:creationId xmlns:a16="http://schemas.microsoft.com/office/drawing/2014/main" id="{31F71CED-234C-4671-7B17-1843C061F5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84020" y="2325528"/>
                <a:ext cx="1341120" cy="492443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>
                <a:lvl1pPr>
                  <a:defRPr sz="3700" b="1" i="0">
                    <a:solidFill>
                      <a:srgbClr val="292929"/>
                    </a:solidFill>
                    <a:latin typeface="Calibri"/>
                    <a:ea typeface="+mj-ea"/>
                    <a:cs typeface="Calibri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kern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kern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ru-RU" sz="3200" b="0" kern="0" dirty="0"/>
              </a:p>
            </p:txBody>
          </p:sp>
        </mc:Choice>
        <mc:Fallback>
          <p:sp>
            <p:nvSpPr>
              <p:cNvPr id="14" name="Заголовок 1">
                <a:extLst>
                  <a:ext uri="{FF2B5EF4-FFF2-40B4-BE49-F238E27FC236}">
                    <a16:creationId xmlns:a16="http://schemas.microsoft.com/office/drawing/2014/main" id="{31F71CED-234C-4671-7B17-1843C061F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4020" y="2325528"/>
                <a:ext cx="1341120" cy="4924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Заголовок 1">
                <a:extLst>
                  <a:ext uri="{FF2B5EF4-FFF2-40B4-BE49-F238E27FC236}">
                    <a16:creationId xmlns:a16="http://schemas.microsoft.com/office/drawing/2014/main" id="{CBBAA9C4-4A6C-DF10-9263-AFAAD65B71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48302" y="2326956"/>
                <a:ext cx="1341120" cy="492443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>
                <a:lvl1pPr>
                  <a:defRPr sz="3700" b="1" i="0">
                    <a:solidFill>
                      <a:srgbClr val="292929"/>
                    </a:solidFill>
                    <a:latin typeface="Calibri"/>
                    <a:ea typeface="+mj-ea"/>
                    <a:cs typeface="Calibri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kern="0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ru-RU" sz="3200" b="0" kern="0" dirty="0"/>
              </a:p>
            </p:txBody>
          </p:sp>
        </mc:Choice>
        <mc:Fallback>
          <p:sp>
            <p:nvSpPr>
              <p:cNvPr id="16" name="Заголовок 1">
                <a:extLst>
                  <a:ext uri="{FF2B5EF4-FFF2-40B4-BE49-F238E27FC236}">
                    <a16:creationId xmlns:a16="http://schemas.microsoft.com/office/drawing/2014/main" id="{CBBAA9C4-4A6C-DF10-9263-AFAAD65B7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302" y="2326956"/>
                <a:ext cx="1341120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BE770338-2692-5544-72E8-59991470F39C}"/>
              </a:ext>
            </a:extLst>
          </p:cNvPr>
          <p:cNvCxnSpPr>
            <a:cxnSpLocks/>
          </p:cNvCxnSpPr>
          <p:nvPr/>
        </p:nvCxnSpPr>
        <p:spPr>
          <a:xfrm>
            <a:off x="4648200" y="1699880"/>
            <a:ext cx="1226820" cy="558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Заголовок 1">
            <a:extLst>
              <a:ext uri="{FF2B5EF4-FFF2-40B4-BE49-F238E27FC236}">
                <a16:creationId xmlns:a16="http://schemas.microsoft.com/office/drawing/2014/main" id="{6ACDA45A-95FC-BC4E-A410-68B0C90F0559}"/>
              </a:ext>
            </a:extLst>
          </p:cNvPr>
          <p:cNvSpPr txBox="1">
            <a:spLocks/>
          </p:cNvSpPr>
          <p:nvPr/>
        </p:nvSpPr>
        <p:spPr>
          <a:xfrm>
            <a:off x="571500" y="3060847"/>
            <a:ext cx="3886200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ctr"/>
            <a:r>
              <a:rPr lang="ru-RU" sz="1800" b="0" kern="0" dirty="0">
                <a:latin typeface="Myriad Pro" panose="020B0503030403020204" charset="0"/>
              </a:rPr>
              <a:t>Оптимизация общего времени обработки заданий на конвейере</a:t>
            </a:r>
          </a:p>
        </p:txBody>
      </p:sp>
      <p:sp>
        <p:nvSpPr>
          <p:cNvPr id="34" name="Заголовок 1">
            <a:extLst>
              <a:ext uri="{FF2B5EF4-FFF2-40B4-BE49-F238E27FC236}">
                <a16:creationId xmlns:a16="http://schemas.microsoft.com/office/drawing/2014/main" id="{A2B4976A-8906-B175-E66C-5723E63C27B3}"/>
              </a:ext>
            </a:extLst>
          </p:cNvPr>
          <p:cNvSpPr txBox="1">
            <a:spLocks/>
          </p:cNvSpPr>
          <p:nvPr/>
        </p:nvSpPr>
        <p:spPr>
          <a:xfrm>
            <a:off x="4457700" y="3060847"/>
            <a:ext cx="3886200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ctr"/>
            <a:r>
              <a:rPr lang="ru-RU" sz="1800" b="0" kern="0" dirty="0">
                <a:latin typeface="Myriad Pro" panose="020B0503030403020204" charset="0"/>
              </a:rPr>
              <a:t>Оптимизация суммарного времени </a:t>
            </a:r>
            <a:r>
              <a:rPr lang="ru-RU" sz="1800" kern="0" dirty="0">
                <a:latin typeface="Myriad Pro" panose="020B0503030403020204" charset="0"/>
              </a:rPr>
              <a:t>запаздывания</a:t>
            </a:r>
            <a:r>
              <a:rPr lang="ru-RU" sz="1800" b="0" kern="0" dirty="0">
                <a:latin typeface="Myriad Pro" panose="020B0503030403020204" charset="0"/>
              </a:rPr>
              <a:t> заданий на приборах конвейера</a:t>
            </a:r>
          </a:p>
        </p:txBody>
      </p:sp>
    </p:spTree>
    <p:extLst>
      <p:ext uri="{BB962C8B-B14F-4D97-AF65-F5344CB8AC3E}">
        <p14:creationId xmlns:p14="http://schemas.microsoft.com/office/powerpoint/2010/main" val="1352675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966891-322F-4E28-5544-C7538FE88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" y="703384"/>
            <a:ext cx="9144000" cy="3736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903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109A04-86FB-1FE6-7C70-BEE1F7B4B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428750"/>
            <a:ext cx="6252600" cy="276999"/>
          </a:xfrm>
        </p:spPr>
        <p:txBody>
          <a:bodyPr/>
          <a:lstStyle/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ru-RU" sz="1800" b="0" dirty="0">
                <a:latin typeface="Myriad Pro" panose="020B0503030403020204" charset="0"/>
              </a:rPr>
              <a:t>Анализ алгоритма функционирования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10036A5-2F33-5A4E-E7CD-40F2B7ED7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732368"/>
            <a:ext cx="6252600" cy="569387"/>
          </a:xfrm>
        </p:spPr>
        <p:txBody>
          <a:bodyPr/>
          <a:lstStyle/>
          <a:p>
            <a:r>
              <a:rPr lang="ru-RU" dirty="0">
                <a:latin typeface="Myriad Pro Black" panose="020B0803030403020204" charset="0"/>
              </a:rPr>
              <a:t>Результаты</a:t>
            </a:r>
            <a:r>
              <a:rPr lang="ru-RU" dirty="0"/>
              <a:t>: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D0CD54B-A5BC-DD62-0D41-77D720542E81}"/>
              </a:ext>
            </a:extLst>
          </p:cNvPr>
          <p:cNvSpPr txBox="1">
            <a:spLocks/>
          </p:cNvSpPr>
          <p:nvPr/>
        </p:nvSpPr>
        <p:spPr>
          <a:xfrm>
            <a:off x="1135380" y="1978938"/>
            <a:ext cx="6252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ru-RU" sz="1800" b="0" kern="0" dirty="0">
                <a:latin typeface="Myriad Pro" panose="020B0503030403020204" charset="0"/>
              </a:rPr>
              <a:t>Структура системы через контекстные диаграммы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FED60446-66A9-9B7D-D0BA-C90651439688}"/>
              </a:ext>
            </a:extLst>
          </p:cNvPr>
          <p:cNvSpPr txBox="1">
            <a:spLocks/>
          </p:cNvSpPr>
          <p:nvPr/>
        </p:nvSpPr>
        <p:spPr>
          <a:xfrm>
            <a:off x="1158240" y="2529126"/>
            <a:ext cx="6252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q"/>
            </a:pPr>
            <a:r>
              <a:rPr lang="ru-RU" sz="1800" b="0" kern="0" dirty="0">
                <a:latin typeface="Myriad Pro" panose="020B0503030403020204" charset="0"/>
              </a:rPr>
              <a:t>Анализ потоков данных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72752DF-D3DC-3B1C-F376-C03EE58DCD34}"/>
              </a:ext>
            </a:extLst>
          </p:cNvPr>
          <p:cNvSpPr txBox="1">
            <a:spLocks/>
          </p:cNvSpPr>
          <p:nvPr/>
        </p:nvSpPr>
        <p:spPr>
          <a:xfrm>
            <a:off x="1135380" y="3079314"/>
            <a:ext cx="62526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sz="1800" b="0" kern="0" dirty="0">
                <a:latin typeface="Myriad Pro" panose="020B0503030403020204" charset="0"/>
              </a:rPr>
              <a:t>Архитектура (разделение функциональности на три слоя)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9FBA3CE5-A067-F40E-7233-DA74BBF4DA64}"/>
              </a:ext>
            </a:extLst>
          </p:cNvPr>
          <p:cNvSpPr txBox="1">
            <a:spLocks/>
          </p:cNvSpPr>
          <p:nvPr/>
        </p:nvSpPr>
        <p:spPr>
          <a:xfrm>
            <a:off x="1143000" y="3624055"/>
            <a:ext cx="64770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sz="1800" b="0" kern="0" dirty="0">
                <a:latin typeface="Myriad Pro" panose="020B0503030403020204" charset="0"/>
              </a:rPr>
              <a:t>Наборы входных, вспомогательных и выходных параметров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11FF4E7-63C4-76C6-4EB9-5C8C325AFB92}"/>
              </a:ext>
            </a:extLst>
          </p:cNvPr>
          <p:cNvSpPr txBox="1">
            <a:spLocks/>
          </p:cNvSpPr>
          <p:nvPr/>
        </p:nvSpPr>
        <p:spPr>
          <a:xfrm>
            <a:off x="1158240" y="4168796"/>
            <a:ext cx="7147560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92929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285750" indent="-285750">
              <a:buFont typeface="Wingdings" panose="05000000000000000000" pitchFamily="2" charset="2"/>
              <a:buChar char="q"/>
            </a:pPr>
            <a:r>
              <a:rPr lang="ru-RU" sz="1800" b="0" kern="0" dirty="0">
                <a:latin typeface="Myriad Pro" panose="020B0503030403020204" charset="0"/>
              </a:rPr>
              <a:t>Математические модели </a:t>
            </a:r>
            <a:r>
              <a:rPr lang="en-US" sz="1800" b="0" kern="0" dirty="0">
                <a:latin typeface="Myriad Pro" panose="020B0503030403020204" charset="0"/>
              </a:rPr>
              <a:t>MILP (</a:t>
            </a:r>
            <a:r>
              <a:rPr lang="ru-RU" sz="1800" b="0" kern="0" dirty="0">
                <a:latin typeface="Myriad Pro" panose="020B0503030403020204" charset="0"/>
              </a:rPr>
              <a:t>критерии оптимизации и ограничения)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7F9CE82A-9E51-1823-12C7-7A00E37FBCF8}"/>
              </a:ext>
            </a:extLst>
          </p:cNvPr>
          <p:cNvGrpSpPr/>
          <p:nvPr/>
        </p:nvGrpSpPr>
        <p:grpSpPr>
          <a:xfrm>
            <a:off x="0" y="-5563"/>
            <a:ext cx="9144000" cy="574705"/>
            <a:chOff x="0" y="-5563"/>
            <a:chExt cx="9144000" cy="574705"/>
          </a:xfrm>
        </p:grpSpPr>
        <p:grpSp>
          <p:nvGrpSpPr>
            <p:cNvPr id="10" name="Группа 9">
              <a:extLst>
                <a:ext uri="{FF2B5EF4-FFF2-40B4-BE49-F238E27FC236}">
                  <a16:creationId xmlns:a16="http://schemas.microsoft.com/office/drawing/2014/main" id="{B78FC011-789C-A453-014E-B3042C04472F}"/>
                </a:ext>
              </a:extLst>
            </p:cNvPr>
            <p:cNvGrpSpPr/>
            <p:nvPr/>
          </p:nvGrpSpPr>
          <p:grpSpPr>
            <a:xfrm>
              <a:off x="0" y="-5563"/>
              <a:ext cx="9144000" cy="574705"/>
              <a:chOff x="-2931" y="-6103"/>
              <a:chExt cx="12194930" cy="867688"/>
            </a:xfrm>
          </p:grpSpPr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182262C-6014-D0F6-50FB-AFD609234374}"/>
                  </a:ext>
                </a:extLst>
              </p:cNvPr>
              <p:cNvSpPr/>
              <p:nvPr/>
            </p:nvSpPr>
            <p:spPr>
              <a:xfrm>
                <a:off x="0" y="-6103"/>
                <a:ext cx="12191999" cy="867688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3" name="Полилиния 13">
                <a:extLst>
                  <a:ext uri="{FF2B5EF4-FFF2-40B4-BE49-F238E27FC236}">
                    <a16:creationId xmlns:a16="http://schemas.microsoft.com/office/drawing/2014/main" id="{3B8B8DA5-F5C0-9D8D-92AF-320D2F6C157C}"/>
                  </a:ext>
                </a:extLst>
              </p:cNvPr>
              <p:cNvSpPr/>
              <p:nvPr/>
            </p:nvSpPr>
            <p:spPr>
              <a:xfrm>
                <a:off x="-2931" y="-6103"/>
                <a:ext cx="8638075" cy="867685"/>
              </a:xfrm>
              <a:custGeom>
                <a:avLst/>
                <a:gdLst>
                  <a:gd name="connsiteX0" fmla="*/ 0 w 9967865"/>
                  <a:gd name="connsiteY0" fmla="*/ 0 h 679010"/>
                  <a:gd name="connsiteX1" fmla="*/ 9967865 w 9967865"/>
                  <a:gd name="connsiteY1" fmla="*/ 0 h 679010"/>
                  <a:gd name="connsiteX2" fmla="*/ 7659232 w 9967865"/>
                  <a:gd name="connsiteY2" fmla="*/ 679010 h 679010"/>
                  <a:gd name="connsiteX3" fmla="*/ 0 w 9967865"/>
                  <a:gd name="connsiteY3" fmla="*/ 679010 h 679010"/>
                  <a:gd name="connsiteX4" fmla="*/ 0 w 9967865"/>
                  <a:gd name="connsiteY4" fmla="*/ 0 h 679010"/>
                  <a:gd name="connsiteX0" fmla="*/ 0 w 9967865"/>
                  <a:gd name="connsiteY0" fmla="*/ 0 h 686788"/>
                  <a:gd name="connsiteX1" fmla="*/ 9967865 w 9967865"/>
                  <a:gd name="connsiteY1" fmla="*/ 0 h 686788"/>
                  <a:gd name="connsiteX2" fmla="*/ 9086239 w 9967865"/>
                  <a:gd name="connsiteY2" fmla="*/ 686788 h 686788"/>
                  <a:gd name="connsiteX3" fmla="*/ 0 w 9967865"/>
                  <a:gd name="connsiteY3" fmla="*/ 679010 h 686788"/>
                  <a:gd name="connsiteX4" fmla="*/ 0 w 9967865"/>
                  <a:gd name="connsiteY4" fmla="*/ 0 h 686788"/>
                  <a:gd name="connsiteX0" fmla="*/ 0 w 9967865"/>
                  <a:gd name="connsiteY0" fmla="*/ 0 h 750734"/>
                  <a:gd name="connsiteX1" fmla="*/ 9967865 w 9967865"/>
                  <a:gd name="connsiteY1" fmla="*/ 0 h 750734"/>
                  <a:gd name="connsiteX2" fmla="*/ 9086239 w 9967865"/>
                  <a:gd name="connsiteY2" fmla="*/ 686788 h 750734"/>
                  <a:gd name="connsiteX3" fmla="*/ 422409 w 9967865"/>
                  <a:gd name="connsiteY3" fmla="*/ 750734 h 750734"/>
                  <a:gd name="connsiteX4" fmla="*/ 0 w 9967865"/>
                  <a:gd name="connsiteY4" fmla="*/ 0 h 750734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86239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318564 w 9967865"/>
                  <a:gd name="connsiteY2" fmla="*/ 634624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9001757 w 9967865"/>
                  <a:gd name="connsiteY2" fmla="*/ 683527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929948 w 9967865"/>
                  <a:gd name="connsiteY2" fmla="*/ 686788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774813"/>
                  <a:gd name="connsiteX1" fmla="*/ 9967865 w 9967865"/>
                  <a:gd name="connsiteY1" fmla="*/ 0 h 774813"/>
                  <a:gd name="connsiteX2" fmla="*/ 9153824 w 9967865"/>
                  <a:gd name="connsiteY2" fmla="*/ 774813 h 774813"/>
                  <a:gd name="connsiteX3" fmla="*/ 4224 w 9967865"/>
                  <a:gd name="connsiteY3" fmla="*/ 688791 h 774813"/>
                  <a:gd name="connsiteX4" fmla="*/ 0 w 9967865"/>
                  <a:gd name="connsiteY4" fmla="*/ 0 h 774813"/>
                  <a:gd name="connsiteX0" fmla="*/ 0 w 9967865"/>
                  <a:gd name="connsiteY0" fmla="*/ 0 h 688791"/>
                  <a:gd name="connsiteX1" fmla="*/ 9967865 w 9967865"/>
                  <a:gd name="connsiteY1" fmla="*/ 0 h 688791"/>
                  <a:gd name="connsiteX2" fmla="*/ 8824346 w 9967865"/>
                  <a:gd name="connsiteY2" fmla="*/ 484656 h 688791"/>
                  <a:gd name="connsiteX3" fmla="*/ 4224 w 9967865"/>
                  <a:gd name="connsiteY3" fmla="*/ 688791 h 688791"/>
                  <a:gd name="connsiteX4" fmla="*/ 0 w 9967865"/>
                  <a:gd name="connsiteY4" fmla="*/ 0 h 688791"/>
                  <a:gd name="connsiteX0" fmla="*/ 0 w 9967865"/>
                  <a:gd name="connsiteY0" fmla="*/ 0 h 690048"/>
                  <a:gd name="connsiteX1" fmla="*/ 9967865 w 9967865"/>
                  <a:gd name="connsiteY1" fmla="*/ 0 h 690048"/>
                  <a:gd name="connsiteX2" fmla="*/ 8760984 w 9967865"/>
                  <a:gd name="connsiteY2" fmla="*/ 690048 h 690048"/>
                  <a:gd name="connsiteX3" fmla="*/ 4224 w 9967865"/>
                  <a:gd name="connsiteY3" fmla="*/ 688791 h 690048"/>
                  <a:gd name="connsiteX4" fmla="*/ 0 w 9967865"/>
                  <a:gd name="connsiteY4" fmla="*/ 0 h 690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7865" h="690048">
                    <a:moveTo>
                      <a:pt x="0" y="0"/>
                    </a:moveTo>
                    <a:lnTo>
                      <a:pt x="9967865" y="0"/>
                    </a:lnTo>
                    <a:lnTo>
                      <a:pt x="8760984" y="690048"/>
                    </a:lnTo>
                    <a:lnTo>
                      <a:pt x="4224" y="688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A7DC5B9D-0CE9-89BB-B678-7C3C45CEE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800" y="91298"/>
              <a:ext cx="1211316" cy="380979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C0F3133-43A9-2E40-982F-0D67A553D114}"/>
              </a:ext>
            </a:extLst>
          </p:cNvPr>
          <p:cNvSpPr txBox="1"/>
          <p:nvPr/>
        </p:nvSpPr>
        <p:spPr>
          <a:xfrm>
            <a:off x="724617" y="147583"/>
            <a:ext cx="8229600" cy="268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400" dirty="0">
                <a:solidFill>
                  <a:schemeClr val="bg1"/>
                </a:solidFill>
                <a:latin typeface="Myriad Pro Black" panose="020B0803030403020204" pitchFamily="34" charset="0"/>
              </a:rPr>
              <a:t>Системотехнический анализ и проектирование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1409615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0" y="-5563"/>
            <a:ext cx="9144000" cy="5149063"/>
            <a:chOff x="-2931" y="-6103"/>
            <a:chExt cx="12194930" cy="867688"/>
          </a:xfrm>
        </p:grpSpPr>
        <p:sp>
          <p:nvSpPr>
            <p:cNvPr id="9" name="Прямоугольник 8"/>
            <p:cNvSpPr/>
            <p:nvPr/>
          </p:nvSpPr>
          <p:spPr>
            <a:xfrm>
              <a:off x="0" y="-6103"/>
              <a:ext cx="12191999" cy="867688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" name="Полилиния 9"/>
            <p:cNvSpPr/>
            <p:nvPr/>
          </p:nvSpPr>
          <p:spPr>
            <a:xfrm>
              <a:off x="-2931" y="-6103"/>
              <a:ext cx="8638075" cy="867685"/>
            </a:xfrm>
            <a:custGeom>
              <a:avLst/>
              <a:gdLst>
                <a:gd name="connsiteX0" fmla="*/ 0 w 9967865"/>
                <a:gd name="connsiteY0" fmla="*/ 0 h 679010"/>
                <a:gd name="connsiteX1" fmla="*/ 9967865 w 9967865"/>
                <a:gd name="connsiteY1" fmla="*/ 0 h 679010"/>
                <a:gd name="connsiteX2" fmla="*/ 7659232 w 9967865"/>
                <a:gd name="connsiteY2" fmla="*/ 679010 h 679010"/>
                <a:gd name="connsiteX3" fmla="*/ 0 w 9967865"/>
                <a:gd name="connsiteY3" fmla="*/ 679010 h 679010"/>
                <a:gd name="connsiteX4" fmla="*/ 0 w 9967865"/>
                <a:gd name="connsiteY4" fmla="*/ 0 h 679010"/>
                <a:gd name="connsiteX0" fmla="*/ 0 w 9967865"/>
                <a:gd name="connsiteY0" fmla="*/ 0 h 686788"/>
                <a:gd name="connsiteX1" fmla="*/ 9967865 w 9967865"/>
                <a:gd name="connsiteY1" fmla="*/ 0 h 686788"/>
                <a:gd name="connsiteX2" fmla="*/ 9086239 w 9967865"/>
                <a:gd name="connsiteY2" fmla="*/ 686788 h 686788"/>
                <a:gd name="connsiteX3" fmla="*/ 0 w 9967865"/>
                <a:gd name="connsiteY3" fmla="*/ 679010 h 686788"/>
                <a:gd name="connsiteX4" fmla="*/ 0 w 9967865"/>
                <a:gd name="connsiteY4" fmla="*/ 0 h 686788"/>
                <a:gd name="connsiteX0" fmla="*/ 0 w 9967865"/>
                <a:gd name="connsiteY0" fmla="*/ 0 h 750734"/>
                <a:gd name="connsiteX1" fmla="*/ 9967865 w 9967865"/>
                <a:gd name="connsiteY1" fmla="*/ 0 h 750734"/>
                <a:gd name="connsiteX2" fmla="*/ 9086239 w 9967865"/>
                <a:gd name="connsiteY2" fmla="*/ 686788 h 750734"/>
                <a:gd name="connsiteX3" fmla="*/ 422409 w 9967865"/>
                <a:gd name="connsiteY3" fmla="*/ 750734 h 750734"/>
                <a:gd name="connsiteX4" fmla="*/ 0 w 9967865"/>
                <a:gd name="connsiteY4" fmla="*/ 0 h 750734"/>
                <a:gd name="connsiteX0" fmla="*/ 0 w 9967865"/>
                <a:gd name="connsiteY0" fmla="*/ 0 h 688791"/>
                <a:gd name="connsiteX1" fmla="*/ 9967865 w 9967865"/>
                <a:gd name="connsiteY1" fmla="*/ 0 h 688791"/>
                <a:gd name="connsiteX2" fmla="*/ 9086239 w 9967865"/>
                <a:gd name="connsiteY2" fmla="*/ 686788 h 688791"/>
                <a:gd name="connsiteX3" fmla="*/ 4224 w 9967865"/>
                <a:gd name="connsiteY3" fmla="*/ 688791 h 688791"/>
                <a:gd name="connsiteX4" fmla="*/ 0 w 9967865"/>
                <a:gd name="connsiteY4" fmla="*/ 0 h 688791"/>
                <a:gd name="connsiteX0" fmla="*/ 0 w 9967865"/>
                <a:gd name="connsiteY0" fmla="*/ 0 h 688791"/>
                <a:gd name="connsiteX1" fmla="*/ 9967865 w 9967865"/>
                <a:gd name="connsiteY1" fmla="*/ 0 h 688791"/>
                <a:gd name="connsiteX2" fmla="*/ 9318564 w 9967865"/>
                <a:gd name="connsiteY2" fmla="*/ 634624 h 688791"/>
                <a:gd name="connsiteX3" fmla="*/ 4224 w 9967865"/>
                <a:gd name="connsiteY3" fmla="*/ 688791 h 688791"/>
                <a:gd name="connsiteX4" fmla="*/ 0 w 9967865"/>
                <a:gd name="connsiteY4" fmla="*/ 0 h 688791"/>
                <a:gd name="connsiteX0" fmla="*/ 0 w 9967865"/>
                <a:gd name="connsiteY0" fmla="*/ 0 h 688791"/>
                <a:gd name="connsiteX1" fmla="*/ 9967865 w 9967865"/>
                <a:gd name="connsiteY1" fmla="*/ 0 h 688791"/>
                <a:gd name="connsiteX2" fmla="*/ 9001757 w 9967865"/>
                <a:gd name="connsiteY2" fmla="*/ 683527 h 688791"/>
                <a:gd name="connsiteX3" fmla="*/ 4224 w 9967865"/>
                <a:gd name="connsiteY3" fmla="*/ 688791 h 688791"/>
                <a:gd name="connsiteX4" fmla="*/ 0 w 9967865"/>
                <a:gd name="connsiteY4" fmla="*/ 0 h 688791"/>
                <a:gd name="connsiteX0" fmla="*/ 0 w 9967865"/>
                <a:gd name="connsiteY0" fmla="*/ 0 h 688791"/>
                <a:gd name="connsiteX1" fmla="*/ 9967865 w 9967865"/>
                <a:gd name="connsiteY1" fmla="*/ 0 h 688791"/>
                <a:gd name="connsiteX2" fmla="*/ 8929948 w 9967865"/>
                <a:gd name="connsiteY2" fmla="*/ 686788 h 688791"/>
                <a:gd name="connsiteX3" fmla="*/ 4224 w 9967865"/>
                <a:gd name="connsiteY3" fmla="*/ 688791 h 688791"/>
                <a:gd name="connsiteX4" fmla="*/ 0 w 9967865"/>
                <a:gd name="connsiteY4" fmla="*/ 0 h 688791"/>
                <a:gd name="connsiteX0" fmla="*/ 0 w 9967865"/>
                <a:gd name="connsiteY0" fmla="*/ 0 h 774813"/>
                <a:gd name="connsiteX1" fmla="*/ 9967865 w 9967865"/>
                <a:gd name="connsiteY1" fmla="*/ 0 h 774813"/>
                <a:gd name="connsiteX2" fmla="*/ 9153824 w 9967865"/>
                <a:gd name="connsiteY2" fmla="*/ 774813 h 774813"/>
                <a:gd name="connsiteX3" fmla="*/ 4224 w 9967865"/>
                <a:gd name="connsiteY3" fmla="*/ 688791 h 774813"/>
                <a:gd name="connsiteX4" fmla="*/ 0 w 9967865"/>
                <a:gd name="connsiteY4" fmla="*/ 0 h 774813"/>
                <a:gd name="connsiteX0" fmla="*/ 0 w 9967865"/>
                <a:gd name="connsiteY0" fmla="*/ 0 h 688791"/>
                <a:gd name="connsiteX1" fmla="*/ 9967865 w 9967865"/>
                <a:gd name="connsiteY1" fmla="*/ 0 h 688791"/>
                <a:gd name="connsiteX2" fmla="*/ 8824346 w 9967865"/>
                <a:gd name="connsiteY2" fmla="*/ 484656 h 688791"/>
                <a:gd name="connsiteX3" fmla="*/ 4224 w 9967865"/>
                <a:gd name="connsiteY3" fmla="*/ 688791 h 688791"/>
                <a:gd name="connsiteX4" fmla="*/ 0 w 9967865"/>
                <a:gd name="connsiteY4" fmla="*/ 0 h 688791"/>
                <a:gd name="connsiteX0" fmla="*/ 0 w 9967865"/>
                <a:gd name="connsiteY0" fmla="*/ 0 h 690048"/>
                <a:gd name="connsiteX1" fmla="*/ 9967865 w 9967865"/>
                <a:gd name="connsiteY1" fmla="*/ 0 h 690048"/>
                <a:gd name="connsiteX2" fmla="*/ 8760984 w 9967865"/>
                <a:gd name="connsiteY2" fmla="*/ 690048 h 690048"/>
                <a:gd name="connsiteX3" fmla="*/ 4224 w 9967865"/>
                <a:gd name="connsiteY3" fmla="*/ 688791 h 690048"/>
                <a:gd name="connsiteX4" fmla="*/ 0 w 9967865"/>
                <a:gd name="connsiteY4" fmla="*/ 0 h 69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67865" h="690048">
                  <a:moveTo>
                    <a:pt x="0" y="0"/>
                  </a:moveTo>
                  <a:lnTo>
                    <a:pt x="9967865" y="0"/>
                  </a:lnTo>
                  <a:lnTo>
                    <a:pt x="8760984" y="690048"/>
                  </a:lnTo>
                  <a:lnTo>
                    <a:pt x="4224" y="6887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sp>
        <p:nvSpPr>
          <p:cNvPr id="11" name="object 3"/>
          <p:cNvSpPr txBox="1"/>
          <p:nvPr/>
        </p:nvSpPr>
        <p:spPr>
          <a:xfrm>
            <a:off x="838200" y="1524630"/>
            <a:ext cx="7543800" cy="1754776"/>
          </a:xfrm>
          <a:prstGeom prst="rect">
            <a:avLst/>
          </a:prstGeom>
        </p:spPr>
        <p:txBody>
          <a:bodyPr vert="horz" wrap="square" lIns="0" tIns="419100" rIns="0" bIns="0" rtlCol="0" anchor="ctr" anchorCtr="0">
            <a:spAutoFit/>
          </a:bodyPr>
          <a:lstStyle/>
          <a:p>
            <a:pPr marR="5080">
              <a:lnSpc>
                <a:spcPct val="70000"/>
              </a:lnSpc>
            </a:pPr>
            <a:r>
              <a:rPr lang="ru-RU" sz="6000" dirty="0">
                <a:solidFill>
                  <a:schemeClr val="bg1"/>
                </a:solidFill>
                <a:latin typeface="Myriad Pro Black" panose="020B0803030403020204" pitchFamily="34" charset="0"/>
                <a:cs typeface="Calibri"/>
              </a:rPr>
              <a:t>СПАСИБО</a:t>
            </a:r>
            <a:br>
              <a:rPr lang="ru-RU" sz="6000" dirty="0">
                <a:solidFill>
                  <a:schemeClr val="bg1"/>
                </a:solidFill>
                <a:latin typeface="Myriad Pro Black" panose="020B0803030403020204" pitchFamily="34" charset="0"/>
                <a:cs typeface="Calibri"/>
              </a:rPr>
            </a:br>
            <a:r>
              <a:rPr lang="ru-RU" sz="6000" dirty="0">
                <a:solidFill>
                  <a:schemeClr val="bg1"/>
                </a:solidFill>
                <a:latin typeface="Myriad Pro Black" panose="020B0803030403020204" pitchFamily="34" charset="0"/>
                <a:cs typeface="Calibri"/>
              </a:rPr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733878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435</TotalTime>
  <Words>352</Words>
  <Application>Microsoft Office PowerPoint</Application>
  <PresentationFormat>Экран (16:9)</PresentationFormat>
  <Paragraphs>50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Myriad Pro Black</vt:lpstr>
      <vt:lpstr>Myriad Pro</vt:lpstr>
      <vt:lpstr>Wingdings</vt:lpstr>
      <vt:lpstr>Century Gothic</vt:lpstr>
      <vt:lpstr>Calibri</vt:lpstr>
      <vt:lpstr>Arial</vt:lpstr>
      <vt:lpstr>Cambria Math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Функциональная модель IDEF0 </vt:lpstr>
      <vt:lpstr>Презентация PowerPoint</vt:lpstr>
      <vt:lpstr>Презентация PowerPoint</vt:lpstr>
      <vt:lpstr>Обобщённый алгоритм работы</vt:lpstr>
      <vt:lpstr>Презентация PowerPoint</vt:lpstr>
      <vt:lpstr>Архитектура системы</vt:lpstr>
      <vt:lpstr>Презентация PowerPoint</vt:lpstr>
      <vt:lpstr>Презентация PowerPoint</vt:lpstr>
      <vt:lpstr>Критерий оптимизации</vt:lpstr>
      <vt:lpstr>Презентация PowerPoint</vt:lpstr>
      <vt:lpstr>Анализ алгоритма функционирования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Антон Федорович Урожай</dc:creator>
  <cp:lastModifiedBy>Константин Мовенко</cp:lastModifiedBy>
  <cp:revision>141</cp:revision>
  <dcterms:created xsi:type="dcterms:W3CDTF">2021-03-12T05:54:09Z</dcterms:created>
  <dcterms:modified xsi:type="dcterms:W3CDTF">2026-06-04T11:54:31Z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</Properties>
</file>